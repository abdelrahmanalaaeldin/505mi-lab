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Squada One" charset="1" panose="02000000000000000000"/>
      <p:regular r:id="rId21"/>
    </p:embeddedFont>
    <p:embeddedFont>
      <p:font typeface="Helvetica World" charset="1" panose="020B0500040000020004"/>
      <p:regular r:id="rId22"/>
    </p:embeddedFont>
    <p:embeddedFont>
      <p:font typeface="Montserrat Bold" charset="1" panose="00000800000000000000"/>
      <p:regular r:id="rId23"/>
    </p:embeddedFont>
    <p:embeddedFont>
      <p:font typeface="Montserrat Semi-Bold" charset="1" panose="00000700000000000000"/>
      <p:regular r:id="rId24"/>
    </p:embeddedFont>
    <p:embeddedFont>
      <p:font typeface="Montserrat" charset="1" panose="00000500000000000000"/>
      <p:regular r:id="rId25"/>
    </p:embeddedFont>
    <p:embeddedFont>
      <p:font typeface="JetBrains Mono" charset="1" panose="02010509020102050004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github.com/aeyesec/CVE-2022-34265" TargetMode="External" Type="http://schemas.openxmlformats.org/officeDocument/2006/relationships/hyperlink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9.png" Type="http://schemas.openxmlformats.org/officeDocument/2006/relationships/image"/><Relationship Id="rId9" Target="https://nvd.nist.gov/vuln/detail/cve-2022-34265" TargetMode="External" Type="http://schemas.openxmlformats.org/officeDocument/2006/relationships/hyperlink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1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1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1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1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14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15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19562" y="-76200"/>
            <a:ext cx="20878800" cy="10439400"/>
            <a:chOff x="0" y="0"/>
            <a:chExt cx="27838400" cy="13919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919200" cy="13919200"/>
            </a:xfrm>
            <a:custGeom>
              <a:avLst/>
              <a:gdLst/>
              <a:ahLst/>
              <a:cxnLst/>
              <a:rect r="r" b="b" t="t" l="l"/>
              <a:pathLst>
                <a:path h="13919200" w="13919200">
                  <a:moveTo>
                    <a:pt x="0" y="0"/>
                  </a:moveTo>
                  <a:lnTo>
                    <a:pt x="13919200" y="0"/>
                  </a:lnTo>
                  <a:lnTo>
                    <a:pt x="13919200" y="13919200"/>
                  </a:lnTo>
                  <a:lnTo>
                    <a:pt x="0" y="139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true" flipV="false" rot="0">
              <a:off x="13919200" y="0"/>
              <a:ext cx="13919200" cy="13919200"/>
            </a:xfrm>
            <a:custGeom>
              <a:avLst/>
              <a:gdLst/>
              <a:ahLst/>
              <a:cxnLst/>
              <a:rect r="r" b="b" t="t" l="l"/>
              <a:pathLst>
                <a:path h="13919200" w="13919200">
                  <a:moveTo>
                    <a:pt x="13919200" y="0"/>
                  </a:moveTo>
                  <a:lnTo>
                    <a:pt x="0" y="0"/>
                  </a:lnTo>
                  <a:lnTo>
                    <a:pt x="0" y="13919200"/>
                  </a:lnTo>
                  <a:lnTo>
                    <a:pt x="13919200" y="13919200"/>
                  </a:lnTo>
                  <a:lnTo>
                    <a:pt x="13919200" y="0"/>
                  </a:lnTo>
                  <a:close/>
                </a:path>
              </a:pathLst>
            </a:custGeom>
            <a:blipFill>
              <a:blip r:embed="rId2">
                <a:alphaModFix amt="8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true" flipV="false" rot="-5400000">
            <a:off x="-1028700" y="8821170"/>
            <a:ext cx="4114800" cy="3231988"/>
          </a:xfrm>
          <a:custGeom>
            <a:avLst/>
            <a:gdLst/>
            <a:ahLst/>
            <a:cxnLst/>
            <a:rect r="r" b="b" t="t" l="l"/>
            <a:pathLst>
              <a:path h="3231988" w="4114800">
                <a:moveTo>
                  <a:pt x="4114800" y="0"/>
                </a:moveTo>
                <a:lnTo>
                  <a:pt x="0" y="0"/>
                </a:lnTo>
                <a:lnTo>
                  <a:pt x="0" y="3231989"/>
                </a:lnTo>
                <a:lnTo>
                  <a:pt x="4114800" y="3231989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5400000">
            <a:off x="15201900" y="-1758869"/>
            <a:ext cx="4114800" cy="3231988"/>
          </a:xfrm>
          <a:custGeom>
            <a:avLst/>
            <a:gdLst/>
            <a:ahLst/>
            <a:cxnLst/>
            <a:rect r="r" b="b" t="t" l="l"/>
            <a:pathLst>
              <a:path h="3231988" w="4114800">
                <a:moveTo>
                  <a:pt x="4114800" y="0"/>
                </a:moveTo>
                <a:lnTo>
                  <a:pt x="0" y="0"/>
                </a:lnTo>
                <a:lnTo>
                  <a:pt x="0" y="3231988"/>
                </a:lnTo>
                <a:lnTo>
                  <a:pt x="4114800" y="3231988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2F2F2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true" flipV="true" rot="0">
            <a:off x="16034702" y="7982834"/>
            <a:ext cx="4973892" cy="4946762"/>
          </a:xfrm>
          <a:custGeom>
            <a:avLst/>
            <a:gdLst/>
            <a:ahLst/>
            <a:cxnLst/>
            <a:rect r="r" b="b" t="t" l="l"/>
            <a:pathLst>
              <a:path h="4946762" w="4973892">
                <a:moveTo>
                  <a:pt x="4973892" y="4946762"/>
                </a:moveTo>
                <a:lnTo>
                  <a:pt x="0" y="4946762"/>
                </a:lnTo>
                <a:lnTo>
                  <a:pt x="0" y="0"/>
                </a:lnTo>
                <a:lnTo>
                  <a:pt x="4973892" y="0"/>
                </a:lnTo>
                <a:lnTo>
                  <a:pt x="4973892" y="494676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2624858" y="-2625781"/>
            <a:ext cx="4973892" cy="4946762"/>
          </a:xfrm>
          <a:custGeom>
            <a:avLst/>
            <a:gdLst/>
            <a:ahLst/>
            <a:cxnLst/>
            <a:rect r="r" b="b" t="t" l="l"/>
            <a:pathLst>
              <a:path h="4946762" w="4973892">
                <a:moveTo>
                  <a:pt x="0" y="0"/>
                </a:moveTo>
                <a:lnTo>
                  <a:pt x="4973893" y="0"/>
                </a:lnTo>
                <a:lnTo>
                  <a:pt x="4973893" y="4946762"/>
                </a:lnTo>
                <a:lnTo>
                  <a:pt x="0" y="49467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731797" y="3762326"/>
            <a:ext cx="12824405" cy="2144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305"/>
              </a:lnSpc>
            </a:pPr>
            <a:r>
              <a:rPr lang="en-US" sz="15098">
                <a:solidFill>
                  <a:srgbClr val="000000"/>
                </a:solidFill>
                <a:latin typeface="Squada One"/>
                <a:ea typeface="Squada One"/>
                <a:cs typeface="Squada One"/>
                <a:sym typeface="Squada One"/>
              </a:rPr>
              <a:t>SAST LAB ACTIVITY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439989" y="6002196"/>
            <a:ext cx="13408022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spc="12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Analysis of vulnerable repositories with SAST and SCA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19562" y="-76200"/>
            <a:ext cx="20878800" cy="10439400"/>
            <a:chOff x="0" y="0"/>
            <a:chExt cx="27838400" cy="13919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919200" cy="13919200"/>
            </a:xfrm>
            <a:custGeom>
              <a:avLst/>
              <a:gdLst/>
              <a:ahLst/>
              <a:cxnLst/>
              <a:rect r="r" b="b" t="t" l="l"/>
              <a:pathLst>
                <a:path h="13919200" w="13919200">
                  <a:moveTo>
                    <a:pt x="0" y="0"/>
                  </a:moveTo>
                  <a:lnTo>
                    <a:pt x="13919200" y="0"/>
                  </a:lnTo>
                  <a:lnTo>
                    <a:pt x="13919200" y="13919200"/>
                  </a:lnTo>
                  <a:lnTo>
                    <a:pt x="0" y="139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true" flipV="false" rot="0">
              <a:off x="13919200" y="0"/>
              <a:ext cx="13919200" cy="13919200"/>
            </a:xfrm>
            <a:custGeom>
              <a:avLst/>
              <a:gdLst/>
              <a:ahLst/>
              <a:cxnLst/>
              <a:rect r="r" b="b" t="t" l="l"/>
              <a:pathLst>
                <a:path h="13919200" w="13919200">
                  <a:moveTo>
                    <a:pt x="13919200" y="0"/>
                  </a:moveTo>
                  <a:lnTo>
                    <a:pt x="0" y="0"/>
                  </a:lnTo>
                  <a:lnTo>
                    <a:pt x="0" y="13919200"/>
                  </a:lnTo>
                  <a:lnTo>
                    <a:pt x="13919200" y="13919200"/>
                  </a:lnTo>
                  <a:lnTo>
                    <a:pt x="13919200" y="0"/>
                  </a:lnTo>
                  <a:close/>
                </a:path>
              </a:pathLst>
            </a:custGeom>
            <a:blipFill>
              <a:blip r:embed="rId2">
                <a:alphaModFix amt="8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289142" y="6557382"/>
            <a:ext cx="5220012" cy="738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87182" indent="-443591" lvl="1">
              <a:lnSpc>
                <a:spcPts val="6163"/>
              </a:lnSpc>
              <a:buFont typeface="Arial"/>
              <a:buChar char="•"/>
            </a:pPr>
            <a:r>
              <a:rPr lang="en-US" sz="4109" spc="152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SonarCloud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89142" y="3153886"/>
            <a:ext cx="7431924" cy="768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32039" indent="-466019" lvl="1">
              <a:lnSpc>
                <a:spcPts val="6475"/>
              </a:lnSpc>
              <a:buFont typeface="Arial"/>
              <a:buChar char="•"/>
            </a:pPr>
            <a:r>
              <a:rPr lang="en-US" sz="4316" spc="15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Django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89142" y="4134315"/>
            <a:ext cx="6497604" cy="747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94105" indent="-447052" lvl="1">
              <a:lnSpc>
                <a:spcPts val="6211"/>
              </a:lnSpc>
              <a:buFont typeface="Arial"/>
              <a:buChar char="•"/>
            </a:pPr>
            <a:r>
              <a:rPr lang="en-US" sz="4141" spc="153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Gomoku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89142" y="2031207"/>
            <a:ext cx="9387483" cy="1246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760"/>
              </a:lnSpc>
            </a:pPr>
            <a:r>
              <a:rPr lang="en-US" sz="8000">
                <a:solidFill>
                  <a:srgbClr val="000000"/>
                </a:solidFill>
                <a:latin typeface="Squada One"/>
                <a:ea typeface="Squada One"/>
                <a:cs typeface="Squada One"/>
                <a:sym typeface="Squada One"/>
              </a:rPr>
              <a:t>REPOSITORIES: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16034702" y="7982834"/>
            <a:ext cx="4973892" cy="4946762"/>
          </a:xfrm>
          <a:custGeom>
            <a:avLst/>
            <a:gdLst/>
            <a:ahLst/>
            <a:cxnLst/>
            <a:rect r="r" b="b" t="t" l="l"/>
            <a:pathLst>
              <a:path h="4946762" w="4973892">
                <a:moveTo>
                  <a:pt x="4973892" y="4946762"/>
                </a:moveTo>
                <a:lnTo>
                  <a:pt x="0" y="4946762"/>
                </a:lnTo>
                <a:lnTo>
                  <a:pt x="0" y="0"/>
                </a:lnTo>
                <a:lnTo>
                  <a:pt x="4973892" y="0"/>
                </a:lnTo>
                <a:lnTo>
                  <a:pt x="4973892" y="494676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-5400000">
            <a:off x="-1028700" y="8821170"/>
            <a:ext cx="4114800" cy="3231988"/>
          </a:xfrm>
          <a:custGeom>
            <a:avLst/>
            <a:gdLst/>
            <a:ahLst/>
            <a:cxnLst/>
            <a:rect r="r" b="b" t="t" l="l"/>
            <a:pathLst>
              <a:path h="3231988" w="4114800">
                <a:moveTo>
                  <a:pt x="4114800" y="0"/>
                </a:moveTo>
                <a:lnTo>
                  <a:pt x="0" y="0"/>
                </a:lnTo>
                <a:lnTo>
                  <a:pt x="0" y="3231989"/>
                </a:lnTo>
                <a:lnTo>
                  <a:pt x="4114800" y="3231989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true" flipV="false" rot="5400000">
            <a:off x="15201900" y="-1758869"/>
            <a:ext cx="4114800" cy="3231988"/>
          </a:xfrm>
          <a:custGeom>
            <a:avLst/>
            <a:gdLst/>
            <a:ahLst/>
            <a:cxnLst/>
            <a:rect r="r" b="b" t="t" l="l"/>
            <a:pathLst>
              <a:path h="3231988" w="4114800">
                <a:moveTo>
                  <a:pt x="4114800" y="0"/>
                </a:moveTo>
                <a:lnTo>
                  <a:pt x="0" y="0"/>
                </a:lnTo>
                <a:lnTo>
                  <a:pt x="0" y="3231988"/>
                </a:lnTo>
                <a:lnTo>
                  <a:pt x="4114800" y="3231988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-2624858" y="-2625781"/>
            <a:ext cx="4973892" cy="4946762"/>
          </a:xfrm>
          <a:custGeom>
            <a:avLst/>
            <a:gdLst/>
            <a:ahLst/>
            <a:cxnLst/>
            <a:rect r="r" b="b" t="t" l="l"/>
            <a:pathLst>
              <a:path h="4946762" w="4973892">
                <a:moveTo>
                  <a:pt x="0" y="0"/>
                </a:moveTo>
                <a:lnTo>
                  <a:pt x="4973893" y="0"/>
                </a:lnTo>
                <a:lnTo>
                  <a:pt x="4973893" y="4946762"/>
                </a:lnTo>
                <a:lnTo>
                  <a:pt x="0" y="49467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289142" y="5378408"/>
            <a:ext cx="9387483" cy="1246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760"/>
              </a:lnSpc>
            </a:pPr>
            <a:r>
              <a:rPr lang="en-US" sz="8000">
                <a:solidFill>
                  <a:srgbClr val="000000"/>
                </a:solidFill>
                <a:latin typeface="Squada One"/>
                <a:ea typeface="Squada One"/>
                <a:cs typeface="Squada One"/>
                <a:sym typeface="Squada One"/>
              </a:rPr>
              <a:t>TOOLS: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89142" y="7517151"/>
            <a:ext cx="5541366" cy="738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87182" indent="-443591" lvl="1">
              <a:lnSpc>
                <a:spcPts val="6163"/>
              </a:lnSpc>
              <a:buFont typeface="Arial"/>
              <a:buChar char="•"/>
            </a:pPr>
            <a:r>
              <a:rPr lang="en-US" sz="4109" spc="152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Trivy scanner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19562" y="-76200"/>
            <a:ext cx="20878800" cy="10439400"/>
            <a:chOff x="0" y="0"/>
            <a:chExt cx="27838400" cy="13919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919200" cy="13919200"/>
            </a:xfrm>
            <a:custGeom>
              <a:avLst/>
              <a:gdLst/>
              <a:ahLst/>
              <a:cxnLst/>
              <a:rect r="r" b="b" t="t" l="l"/>
              <a:pathLst>
                <a:path h="13919200" w="13919200">
                  <a:moveTo>
                    <a:pt x="0" y="0"/>
                  </a:moveTo>
                  <a:lnTo>
                    <a:pt x="13919200" y="0"/>
                  </a:lnTo>
                  <a:lnTo>
                    <a:pt x="13919200" y="13919200"/>
                  </a:lnTo>
                  <a:lnTo>
                    <a:pt x="0" y="139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true" flipV="false" rot="0">
              <a:off x="13919200" y="0"/>
              <a:ext cx="13919200" cy="13919200"/>
            </a:xfrm>
            <a:custGeom>
              <a:avLst/>
              <a:gdLst/>
              <a:ahLst/>
              <a:cxnLst/>
              <a:rect r="r" b="b" t="t" l="l"/>
              <a:pathLst>
                <a:path h="13919200" w="13919200">
                  <a:moveTo>
                    <a:pt x="13919200" y="0"/>
                  </a:moveTo>
                  <a:lnTo>
                    <a:pt x="0" y="0"/>
                  </a:lnTo>
                  <a:lnTo>
                    <a:pt x="0" y="13919200"/>
                  </a:lnTo>
                  <a:lnTo>
                    <a:pt x="13919200" y="13919200"/>
                  </a:lnTo>
                  <a:lnTo>
                    <a:pt x="13919200" y="0"/>
                  </a:lnTo>
                  <a:close/>
                </a:path>
              </a:pathLst>
            </a:custGeom>
            <a:blipFill>
              <a:blip r:embed="rId2">
                <a:alphaModFix amt="8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1153477"/>
            <a:ext cx="16230600" cy="8229600"/>
            <a:chOff x="0" y="0"/>
            <a:chExt cx="4274726" cy="216746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918394" y="1439227"/>
            <a:ext cx="14451211" cy="1160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65"/>
              </a:lnSpc>
            </a:pPr>
            <a:r>
              <a:rPr lang="en-US" sz="9500">
                <a:solidFill>
                  <a:srgbClr val="000000"/>
                </a:solidFill>
                <a:latin typeface="Squada One"/>
                <a:ea typeface="Squada One"/>
                <a:cs typeface="Squada One"/>
                <a:sym typeface="Squada One"/>
              </a:rPr>
              <a:t>Django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78238" y="3166541"/>
            <a:ext cx="14731524" cy="5079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35" indent="-291467" lvl="1">
              <a:lnSpc>
                <a:spcPts val="2916"/>
              </a:lnSpc>
              <a:buFont typeface="Arial"/>
              <a:buChar char="•"/>
            </a:pPr>
            <a:r>
              <a:rPr lang="en-US" b="true" sz="2700" spc="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Django</a:t>
            </a:r>
            <a:r>
              <a:rPr lang="en-US" b="true" sz="2700" spc="99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. </a:t>
            </a:r>
            <a:r>
              <a:rPr lang="en-US" sz="2700" spc="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r>
              <a:rPr lang="en-US" sz="2700" spc="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highly structured, widely adopted open-source Python web framework.</a:t>
            </a:r>
          </a:p>
          <a:p>
            <a:pPr algn="l">
              <a:lnSpc>
                <a:spcPts val="2916"/>
              </a:lnSpc>
            </a:pPr>
          </a:p>
          <a:p>
            <a:pPr algn="l" marL="582935" indent="-291467" lvl="1">
              <a:lnSpc>
                <a:spcPts val="2916"/>
              </a:lnSpc>
              <a:buFont typeface="Arial"/>
              <a:buChar char="•"/>
            </a:pPr>
            <a:r>
              <a:rPr lang="en-US" sz="2700" spc="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Frequently utilized in enterprise development to handle </a:t>
            </a:r>
            <a:r>
              <a:rPr lang="en-US" b="true" sz="2700" spc="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complex database interactions</a:t>
            </a:r>
            <a:r>
              <a:rPr lang="en-US" sz="2700" spc="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and </a:t>
            </a:r>
            <a:r>
              <a:rPr lang="en-US" b="true" sz="2700" spc="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rapid backend application deployment</a:t>
            </a:r>
            <a:r>
              <a:rPr lang="en-US" sz="2700" spc="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>
              <a:lnSpc>
                <a:spcPts val="2916"/>
              </a:lnSpc>
            </a:pPr>
          </a:p>
          <a:p>
            <a:pPr algn="l" marL="582935" indent="-291467" lvl="1">
              <a:lnSpc>
                <a:spcPts val="2916"/>
              </a:lnSpc>
              <a:buFont typeface="Arial"/>
              <a:buChar char="•"/>
            </a:pPr>
            <a:r>
              <a:rPr lang="en-US" sz="2700" spc="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Created by web developers </a:t>
            </a:r>
            <a:r>
              <a:rPr lang="en-US" b="true" sz="2700" spc="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Adrian Holovaty</a:t>
            </a:r>
            <a:r>
              <a:rPr lang="en-US" sz="2700" spc="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and </a:t>
            </a:r>
            <a:r>
              <a:rPr lang="en-US" b="true" sz="2700" spc="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Simon Willison</a:t>
            </a:r>
            <a:r>
              <a:rPr lang="en-US" sz="2700" spc="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in the </a:t>
            </a:r>
            <a:r>
              <a:rPr lang="en-US" b="true" sz="2700" spc="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autumn of 2003</a:t>
            </a:r>
          </a:p>
          <a:p>
            <a:pPr algn="l">
              <a:lnSpc>
                <a:spcPts val="2916"/>
              </a:lnSpc>
            </a:pPr>
          </a:p>
          <a:p>
            <a:pPr algn="l" marL="582935" indent="-291467" lvl="1">
              <a:lnSpc>
                <a:spcPts val="2916"/>
              </a:lnSpc>
              <a:buFont typeface="Arial"/>
              <a:buChar char="•"/>
            </a:pPr>
            <a:r>
              <a:rPr lang="en-US" sz="2700" spc="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Few dependencies: </a:t>
            </a:r>
            <a:r>
              <a:rPr lang="en-US" b="true" sz="2700" spc="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sqlparse</a:t>
            </a:r>
            <a:r>
              <a:rPr lang="en-US" sz="2700" spc="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b="true" sz="2700" spc="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asgiref</a:t>
            </a:r>
            <a:r>
              <a:rPr lang="en-US" sz="2700" spc="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b="true" sz="2700" spc="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pytz</a:t>
            </a:r>
          </a:p>
          <a:p>
            <a:pPr algn="l">
              <a:lnSpc>
                <a:spcPts val="2916"/>
              </a:lnSpc>
            </a:pPr>
          </a:p>
          <a:p>
            <a:pPr algn="l" marL="582935" indent="-291467" lvl="1">
              <a:lnSpc>
                <a:spcPts val="2916"/>
              </a:lnSpc>
              <a:buFont typeface="Arial"/>
              <a:buChar char="•"/>
            </a:pPr>
            <a:r>
              <a:rPr lang="en-US" sz="2700" spc="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Some known vulnerabilities in </a:t>
            </a:r>
            <a:r>
              <a:rPr lang="en-US" b="true" sz="2700" spc="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v3.2.13</a:t>
            </a:r>
            <a:r>
              <a:rPr lang="en-US" sz="2700" spc="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lang="en-US" b="true" sz="2700" spc="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CVE-2022-34265</a:t>
            </a:r>
            <a:r>
              <a:rPr lang="en-US" sz="2700" spc="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(SQL Injection within ORM analytical lookups) and </a:t>
            </a:r>
            <a:r>
              <a:rPr lang="en-US" b="true" sz="2700" spc="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CVE-2021-35042</a:t>
            </a:r>
            <a:r>
              <a:rPr lang="en-US" sz="2700" spc="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(SQL Injection risks in QuerySet filters)</a:t>
            </a:r>
          </a:p>
        </p:txBody>
      </p:sp>
      <p:sp>
        <p:nvSpPr>
          <p:cNvPr name="Freeform 10" id="10"/>
          <p:cNvSpPr/>
          <p:nvPr/>
        </p:nvSpPr>
        <p:spPr>
          <a:xfrm flipH="true" flipV="true" rot="0">
            <a:off x="16034702" y="7982834"/>
            <a:ext cx="4973892" cy="4946762"/>
          </a:xfrm>
          <a:custGeom>
            <a:avLst/>
            <a:gdLst/>
            <a:ahLst/>
            <a:cxnLst/>
            <a:rect r="r" b="b" t="t" l="l"/>
            <a:pathLst>
              <a:path h="4946762" w="4973892">
                <a:moveTo>
                  <a:pt x="4973892" y="4946762"/>
                </a:moveTo>
                <a:lnTo>
                  <a:pt x="0" y="4946762"/>
                </a:lnTo>
                <a:lnTo>
                  <a:pt x="0" y="0"/>
                </a:lnTo>
                <a:lnTo>
                  <a:pt x="4973892" y="0"/>
                </a:lnTo>
                <a:lnTo>
                  <a:pt x="4973892" y="494676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-5400000">
            <a:off x="-1028700" y="8821170"/>
            <a:ext cx="4114800" cy="3231988"/>
          </a:xfrm>
          <a:custGeom>
            <a:avLst/>
            <a:gdLst/>
            <a:ahLst/>
            <a:cxnLst/>
            <a:rect r="r" b="b" t="t" l="l"/>
            <a:pathLst>
              <a:path h="3231988" w="4114800">
                <a:moveTo>
                  <a:pt x="4114800" y="0"/>
                </a:moveTo>
                <a:lnTo>
                  <a:pt x="0" y="0"/>
                </a:lnTo>
                <a:lnTo>
                  <a:pt x="0" y="3231989"/>
                </a:lnTo>
                <a:lnTo>
                  <a:pt x="4114800" y="3231989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5400000">
            <a:off x="15201900" y="-1758869"/>
            <a:ext cx="4114800" cy="3231988"/>
          </a:xfrm>
          <a:custGeom>
            <a:avLst/>
            <a:gdLst/>
            <a:ahLst/>
            <a:cxnLst/>
            <a:rect r="r" b="b" t="t" l="l"/>
            <a:pathLst>
              <a:path h="3231988" w="4114800">
                <a:moveTo>
                  <a:pt x="4114800" y="0"/>
                </a:moveTo>
                <a:lnTo>
                  <a:pt x="0" y="0"/>
                </a:lnTo>
                <a:lnTo>
                  <a:pt x="0" y="3231988"/>
                </a:lnTo>
                <a:lnTo>
                  <a:pt x="4114800" y="3231988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-2624858" y="-2625781"/>
            <a:ext cx="4973892" cy="4946762"/>
          </a:xfrm>
          <a:custGeom>
            <a:avLst/>
            <a:gdLst/>
            <a:ahLst/>
            <a:cxnLst/>
            <a:rect r="r" b="b" t="t" l="l"/>
            <a:pathLst>
              <a:path h="4946762" w="4973892">
                <a:moveTo>
                  <a:pt x="0" y="0"/>
                </a:moveTo>
                <a:lnTo>
                  <a:pt x="4973893" y="0"/>
                </a:lnTo>
                <a:lnTo>
                  <a:pt x="4973893" y="4946762"/>
                </a:lnTo>
                <a:lnTo>
                  <a:pt x="0" y="49467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4" id="14"/>
          <p:cNvSpPr/>
          <p:nvPr/>
        </p:nvSpPr>
        <p:spPr>
          <a:xfrm>
            <a:off x="1918394" y="2599373"/>
            <a:ext cx="14451211" cy="0"/>
          </a:xfrm>
          <a:prstGeom prst="line">
            <a:avLst/>
          </a:prstGeom>
          <a:ln cap="flat" w="3810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19562" y="-76200"/>
            <a:ext cx="20878800" cy="10439400"/>
            <a:chOff x="0" y="0"/>
            <a:chExt cx="27838400" cy="13919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919200" cy="13919200"/>
            </a:xfrm>
            <a:custGeom>
              <a:avLst/>
              <a:gdLst/>
              <a:ahLst/>
              <a:cxnLst/>
              <a:rect r="r" b="b" t="t" l="l"/>
              <a:pathLst>
                <a:path h="13919200" w="13919200">
                  <a:moveTo>
                    <a:pt x="0" y="0"/>
                  </a:moveTo>
                  <a:lnTo>
                    <a:pt x="13919200" y="0"/>
                  </a:lnTo>
                  <a:lnTo>
                    <a:pt x="13919200" y="13919200"/>
                  </a:lnTo>
                  <a:lnTo>
                    <a:pt x="0" y="139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true" flipV="false" rot="0">
              <a:off x="13919200" y="0"/>
              <a:ext cx="13919200" cy="13919200"/>
            </a:xfrm>
            <a:custGeom>
              <a:avLst/>
              <a:gdLst/>
              <a:ahLst/>
              <a:cxnLst/>
              <a:rect r="r" b="b" t="t" l="l"/>
              <a:pathLst>
                <a:path h="13919200" w="13919200">
                  <a:moveTo>
                    <a:pt x="13919200" y="0"/>
                  </a:moveTo>
                  <a:lnTo>
                    <a:pt x="0" y="0"/>
                  </a:lnTo>
                  <a:lnTo>
                    <a:pt x="0" y="13919200"/>
                  </a:lnTo>
                  <a:lnTo>
                    <a:pt x="13919200" y="13919200"/>
                  </a:lnTo>
                  <a:lnTo>
                    <a:pt x="13919200" y="0"/>
                  </a:lnTo>
                  <a:close/>
                </a:path>
              </a:pathLst>
            </a:custGeom>
            <a:blipFill>
              <a:blip r:embed="rId2">
                <a:alphaModFix amt="8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true" rot="0">
            <a:off x="16034702" y="7982834"/>
            <a:ext cx="4973892" cy="4946762"/>
          </a:xfrm>
          <a:custGeom>
            <a:avLst/>
            <a:gdLst/>
            <a:ahLst/>
            <a:cxnLst/>
            <a:rect r="r" b="b" t="t" l="l"/>
            <a:pathLst>
              <a:path h="4946762" w="4973892">
                <a:moveTo>
                  <a:pt x="4973892" y="4946762"/>
                </a:moveTo>
                <a:lnTo>
                  <a:pt x="0" y="4946762"/>
                </a:lnTo>
                <a:lnTo>
                  <a:pt x="0" y="0"/>
                </a:lnTo>
                <a:lnTo>
                  <a:pt x="4973892" y="0"/>
                </a:lnTo>
                <a:lnTo>
                  <a:pt x="4973892" y="494676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-5400000">
            <a:off x="-1028700" y="8821170"/>
            <a:ext cx="4114800" cy="3231988"/>
          </a:xfrm>
          <a:custGeom>
            <a:avLst/>
            <a:gdLst/>
            <a:ahLst/>
            <a:cxnLst/>
            <a:rect r="r" b="b" t="t" l="l"/>
            <a:pathLst>
              <a:path h="3231988" w="4114800">
                <a:moveTo>
                  <a:pt x="4114800" y="0"/>
                </a:moveTo>
                <a:lnTo>
                  <a:pt x="0" y="0"/>
                </a:lnTo>
                <a:lnTo>
                  <a:pt x="0" y="3231989"/>
                </a:lnTo>
                <a:lnTo>
                  <a:pt x="4114800" y="3231989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5400000">
            <a:off x="15201900" y="-1758869"/>
            <a:ext cx="4114800" cy="3231988"/>
          </a:xfrm>
          <a:custGeom>
            <a:avLst/>
            <a:gdLst/>
            <a:ahLst/>
            <a:cxnLst/>
            <a:rect r="r" b="b" t="t" l="l"/>
            <a:pathLst>
              <a:path h="3231988" w="4114800">
                <a:moveTo>
                  <a:pt x="4114800" y="0"/>
                </a:moveTo>
                <a:lnTo>
                  <a:pt x="0" y="0"/>
                </a:lnTo>
                <a:lnTo>
                  <a:pt x="0" y="3231988"/>
                </a:lnTo>
                <a:lnTo>
                  <a:pt x="4114800" y="3231988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2624858" y="-2625781"/>
            <a:ext cx="4973892" cy="4946762"/>
          </a:xfrm>
          <a:custGeom>
            <a:avLst/>
            <a:gdLst/>
            <a:ahLst/>
            <a:cxnLst/>
            <a:rect r="r" b="b" t="t" l="l"/>
            <a:pathLst>
              <a:path h="4946762" w="4973892">
                <a:moveTo>
                  <a:pt x="0" y="0"/>
                </a:moveTo>
                <a:lnTo>
                  <a:pt x="4973893" y="0"/>
                </a:lnTo>
                <a:lnTo>
                  <a:pt x="4973893" y="4946762"/>
                </a:lnTo>
                <a:lnTo>
                  <a:pt x="0" y="49467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86842" y="3132432"/>
            <a:ext cx="15314316" cy="2334918"/>
          </a:xfrm>
          <a:custGeom>
            <a:avLst/>
            <a:gdLst/>
            <a:ahLst/>
            <a:cxnLst/>
            <a:rect r="r" b="b" t="t" l="l"/>
            <a:pathLst>
              <a:path h="2334918" w="15314316">
                <a:moveTo>
                  <a:pt x="0" y="0"/>
                </a:moveTo>
                <a:lnTo>
                  <a:pt x="15314316" y="0"/>
                </a:lnTo>
                <a:lnTo>
                  <a:pt x="15314316" y="2334918"/>
                </a:lnTo>
                <a:lnTo>
                  <a:pt x="0" y="233491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486842" y="1009650"/>
            <a:ext cx="10239977" cy="1466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400"/>
              </a:lnSpc>
            </a:pPr>
            <a:r>
              <a:rPr lang="en-US" sz="9500">
                <a:solidFill>
                  <a:srgbClr val="000000"/>
                </a:solidFill>
                <a:latin typeface="Squada One"/>
                <a:ea typeface="Squada One"/>
                <a:cs typeface="Squada One"/>
                <a:sym typeface="Squada One"/>
              </a:rPr>
              <a:t>DJANGO V3.2.13 (SAST)</a:t>
            </a:r>
          </a:p>
        </p:txBody>
      </p:sp>
      <p:sp>
        <p:nvSpPr>
          <p:cNvPr name="AutoShape 14" id="14"/>
          <p:cNvSpPr/>
          <p:nvPr/>
        </p:nvSpPr>
        <p:spPr>
          <a:xfrm flipV="true">
            <a:off x="1486842" y="2476500"/>
            <a:ext cx="15314316" cy="46978"/>
          </a:xfrm>
          <a:prstGeom prst="line">
            <a:avLst/>
          </a:prstGeom>
          <a:ln cap="flat" w="3810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95400" y="-76200"/>
            <a:ext cx="20878800" cy="10439400"/>
            <a:chOff x="0" y="0"/>
            <a:chExt cx="27838400" cy="13919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919200" cy="13919200"/>
            </a:xfrm>
            <a:custGeom>
              <a:avLst/>
              <a:gdLst/>
              <a:ahLst/>
              <a:cxnLst/>
              <a:rect r="r" b="b" t="t" l="l"/>
              <a:pathLst>
                <a:path h="13919200" w="13919200">
                  <a:moveTo>
                    <a:pt x="0" y="0"/>
                  </a:moveTo>
                  <a:lnTo>
                    <a:pt x="13919200" y="0"/>
                  </a:lnTo>
                  <a:lnTo>
                    <a:pt x="13919200" y="13919200"/>
                  </a:lnTo>
                  <a:lnTo>
                    <a:pt x="0" y="139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true" flipV="false" rot="0">
              <a:off x="13919200" y="0"/>
              <a:ext cx="13919200" cy="13919200"/>
            </a:xfrm>
            <a:custGeom>
              <a:avLst/>
              <a:gdLst/>
              <a:ahLst/>
              <a:cxnLst/>
              <a:rect r="r" b="b" t="t" l="l"/>
              <a:pathLst>
                <a:path h="13919200" w="13919200">
                  <a:moveTo>
                    <a:pt x="13919200" y="0"/>
                  </a:moveTo>
                  <a:lnTo>
                    <a:pt x="0" y="0"/>
                  </a:lnTo>
                  <a:lnTo>
                    <a:pt x="0" y="13919200"/>
                  </a:lnTo>
                  <a:lnTo>
                    <a:pt x="13919200" y="13919200"/>
                  </a:lnTo>
                  <a:lnTo>
                    <a:pt x="13919200" y="0"/>
                  </a:lnTo>
                  <a:close/>
                </a:path>
              </a:pathLst>
            </a:custGeom>
            <a:blipFill>
              <a:blip r:embed="rId2">
                <a:alphaModFix amt="8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true" rot="0">
            <a:off x="16034702" y="7982834"/>
            <a:ext cx="4973892" cy="4946762"/>
          </a:xfrm>
          <a:custGeom>
            <a:avLst/>
            <a:gdLst/>
            <a:ahLst/>
            <a:cxnLst/>
            <a:rect r="r" b="b" t="t" l="l"/>
            <a:pathLst>
              <a:path h="4946762" w="4973892">
                <a:moveTo>
                  <a:pt x="4973892" y="4946762"/>
                </a:moveTo>
                <a:lnTo>
                  <a:pt x="0" y="4946762"/>
                </a:lnTo>
                <a:lnTo>
                  <a:pt x="0" y="0"/>
                </a:lnTo>
                <a:lnTo>
                  <a:pt x="4973892" y="0"/>
                </a:lnTo>
                <a:lnTo>
                  <a:pt x="4973892" y="494676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-5400000">
            <a:off x="-1028700" y="8821170"/>
            <a:ext cx="4114800" cy="3231988"/>
          </a:xfrm>
          <a:custGeom>
            <a:avLst/>
            <a:gdLst/>
            <a:ahLst/>
            <a:cxnLst/>
            <a:rect r="r" b="b" t="t" l="l"/>
            <a:pathLst>
              <a:path h="3231988" w="4114800">
                <a:moveTo>
                  <a:pt x="4114800" y="0"/>
                </a:moveTo>
                <a:lnTo>
                  <a:pt x="0" y="0"/>
                </a:lnTo>
                <a:lnTo>
                  <a:pt x="0" y="3231989"/>
                </a:lnTo>
                <a:lnTo>
                  <a:pt x="4114800" y="3231989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5400000">
            <a:off x="15201900" y="-1758869"/>
            <a:ext cx="4114800" cy="3231988"/>
          </a:xfrm>
          <a:custGeom>
            <a:avLst/>
            <a:gdLst/>
            <a:ahLst/>
            <a:cxnLst/>
            <a:rect r="r" b="b" t="t" l="l"/>
            <a:pathLst>
              <a:path h="3231988" w="4114800">
                <a:moveTo>
                  <a:pt x="4114800" y="0"/>
                </a:moveTo>
                <a:lnTo>
                  <a:pt x="0" y="0"/>
                </a:lnTo>
                <a:lnTo>
                  <a:pt x="0" y="3231988"/>
                </a:lnTo>
                <a:lnTo>
                  <a:pt x="4114800" y="3231988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2624858" y="-2625781"/>
            <a:ext cx="4973892" cy="4946762"/>
          </a:xfrm>
          <a:custGeom>
            <a:avLst/>
            <a:gdLst/>
            <a:ahLst/>
            <a:cxnLst/>
            <a:rect r="r" b="b" t="t" l="l"/>
            <a:pathLst>
              <a:path h="4946762" w="4973892">
                <a:moveTo>
                  <a:pt x="0" y="0"/>
                </a:moveTo>
                <a:lnTo>
                  <a:pt x="4973893" y="0"/>
                </a:lnTo>
                <a:lnTo>
                  <a:pt x="4973893" y="4946762"/>
                </a:lnTo>
                <a:lnTo>
                  <a:pt x="0" y="49467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68617" y="2772703"/>
            <a:ext cx="15368740" cy="4722543"/>
          </a:xfrm>
          <a:custGeom>
            <a:avLst/>
            <a:gdLst/>
            <a:ahLst/>
            <a:cxnLst/>
            <a:rect r="r" b="b" t="t" l="l"/>
            <a:pathLst>
              <a:path h="4722543" w="15368740">
                <a:moveTo>
                  <a:pt x="0" y="0"/>
                </a:moveTo>
                <a:lnTo>
                  <a:pt x="15368739" y="0"/>
                </a:lnTo>
                <a:lnTo>
                  <a:pt x="15368739" y="4722544"/>
                </a:lnTo>
                <a:lnTo>
                  <a:pt x="0" y="472254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100295" y="1285875"/>
            <a:ext cx="17421353" cy="116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00"/>
              </a:lnSpc>
            </a:pPr>
            <a:r>
              <a:rPr lang="en-US" sz="7500">
                <a:solidFill>
                  <a:srgbClr val="000000"/>
                </a:solidFill>
                <a:latin typeface="Squada One"/>
                <a:ea typeface="Squada One"/>
                <a:cs typeface="Squada One"/>
                <a:sym typeface="Squada One"/>
              </a:rPr>
              <a:t>HIGH SEVERITY SECURITY ISSUE EXAMPLE</a:t>
            </a:r>
          </a:p>
        </p:txBody>
      </p:sp>
      <p:sp>
        <p:nvSpPr>
          <p:cNvPr name="AutoShape 14" id="14"/>
          <p:cNvSpPr/>
          <p:nvPr/>
        </p:nvSpPr>
        <p:spPr>
          <a:xfrm flipV="true">
            <a:off x="1100353" y="2438400"/>
            <a:ext cx="15314316" cy="46978"/>
          </a:xfrm>
          <a:prstGeom prst="line">
            <a:avLst/>
          </a:prstGeom>
          <a:ln cap="flat" w="3810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95400" y="-76200"/>
            <a:ext cx="20878800" cy="10439400"/>
            <a:chOff x="0" y="0"/>
            <a:chExt cx="27838400" cy="13919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919200" cy="13919200"/>
            </a:xfrm>
            <a:custGeom>
              <a:avLst/>
              <a:gdLst/>
              <a:ahLst/>
              <a:cxnLst/>
              <a:rect r="r" b="b" t="t" l="l"/>
              <a:pathLst>
                <a:path h="13919200" w="13919200">
                  <a:moveTo>
                    <a:pt x="0" y="0"/>
                  </a:moveTo>
                  <a:lnTo>
                    <a:pt x="13919200" y="0"/>
                  </a:lnTo>
                  <a:lnTo>
                    <a:pt x="13919200" y="13919200"/>
                  </a:lnTo>
                  <a:lnTo>
                    <a:pt x="0" y="139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true" flipV="false" rot="0">
              <a:off x="13919200" y="0"/>
              <a:ext cx="13919200" cy="13919200"/>
            </a:xfrm>
            <a:custGeom>
              <a:avLst/>
              <a:gdLst/>
              <a:ahLst/>
              <a:cxnLst/>
              <a:rect r="r" b="b" t="t" l="l"/>
              <a:pathLst>
                <a:path h="13919200" w="13919200">
                  <a:moveTo>
                    <a:pt x="13919200" y="0"/>
                  </a:moveTo>
                  <a:lnTo>
                    <a:pt x="0" y="0"/>
                  </a:lnTo>
                  <a:lnTo>
                    <a:pt x="0" y="13919200"/>
                  </a:lnTo>
                  <a:lnTo>
                    <a:pt x="13919200" y="13919200"/>
                  </a:lnTo>
                  <a:lnTo>
                    <a:pt x="13919200" y="0"/>
                  </a:lnTo>
                  <a:close/>
                </a:path>
              </a:pathLst>
            </a:custGeom>
            <a:blipFill>
              <a:blip r:embed="rId2">
                <a:alphaModFix amt="8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true" rot="0">
            <a:off x="16034702" y="7982834"/>
            <a:ext cx="4973892" cy="4946762"/>
          </a:xfrm>
          <a:custGeom>
            <a:avLst/>
            <a:gdLst/>
            <a:ahLst/>
            <a:cxnLst/>
            <a:rect r="r" b="b" t="t" l="l"/>
            <a:pathLst>
              <a:path h="4946762" w="4973892">
                <a:moveTo>
                  <a:pt x="4973892" y="4946762"/>
                </a:moveTo>
                <a:lnTo>
                  <a:pt x="0" y="4946762"/>
                </a:lnTo>
                <a:lnTo>
                  <a:pt x="0" y="0"/>
                </a:lnTo>
                <a:lnTo>
                  <a:pt x="4973892" y="0"/>
                </a:lnTo>
                <a:lnTo>
                  <a:pt x="4973892" y="494676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-5400000">
            <a:off x="-1028700" y="8821170"/>
            <a:ext cx="4114800" cy="3231988"/>
          </a:xfrm>
          <a:custGeom>
            <a:avLst/>
            <a:gdLst/>
            <a:ahLst/>
            <a:cxnLst/>
            <a:rect r="r" b="b" t="t" l="l"/>
            <a:pathLst>
              <a:path h="3231988" w="4114800">
                <a:moveTo>
                  <a:pt x="4114800" y="0"/>
                </a:moveTo>
                <a:lnTo>
                  <a:pt x="0" y="0"/>
                </a:lnTo>
                <a:lnTo>
                  <a:pt x="0" y="3231989"/>
                </a:lnTo>
                <a:lnTo>
                  <a:pt x="4114800" y="3231989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5400000">
            <a:off x="15201900" y="-1758869"/>
            <a:ext cx="4114800" cy="3231988"/>
          </a:xfrm>
          <a:custGeom>
            <a:avLst/>
            <a:gdLst/>
            <a:ahLst/>
            <a:cxnLst/>
            <a:rect r="r" b="b" t="t" l="l"/>
            <a:pathLst>
              <a:path h="3231988" w="4114800">
                <a:moveTo>
                  <a:pt x="4114800" y="0"/>
                </a:moveTo>
                <a:lnTo>
                  <a:pt x="0" y="0"/>
                </a:lnTo>
                <a:lnTo>
                  <a:pt x="0" y="3231988"/>
                </a:lnTo>
                <a:lnTo>
                  <a:pt x="4114800" y="3231988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2624858" y="-2625781"/>
            <a:ext cx="4973892" cy="4946762"/>
          </a:xfrm>
          <a:custGeom>
            <a:avLst/>
            <a:gdLst/>
            <a:ahLst/>
            <a:cxnLst/>
            <a:rect r="r" b="b" t="t" l="l"/>
            <a:pathLst>
              <a:path h="4946762" w="4973892">
                <a:moveTo>
                  <a:pt x="0" y="0"/>
                </a:moveTo>
                <a:lnTo>
                  <a:pt x="4973893" y="0"/>
                </a:lnTo>
                <a:lnTo>
                  <a:pt x="4973893" y="4946762"/>
                </a:lnTo>
                <a:lnTo>
                  <a:pt x="0" y="49467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100295" y="1285875"/>
            <a:ext cx="17421353" cy="116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00"/>
              </a:lnSpc>
            </a:pPr>
            <a:r>
              <a:rPr lang="en-US" sz="7500">
                <a:solidFill>
                  <a:srgbClr val="000000"/>
                </a:solidFill>
                <a:latin typeface="Squada One"/>
                <a:ea typeface="Squada One"/>
                <a:cs typeface="Squada One"/>
                <a:sym typeface="Squada One"/>
              </a:rPr>
              <a:t>HIGH SEVERITY SECURITY ISSUE EXAMPLE</a:t>
            </a:r>
          </a:p>
        </p:txBody>
      </p:sp>
      <p:sp>
        <p:nvSpPr>
          <p:cNvPr name="AutoShape 13" id="13"/>
          <p:cNvSpPr/>
          <p:nvPr/>
        </p:nvSpPr>
        <p:spPr>
          <a:xfrm flipV="true">
            <a:off x="1100353" y="2438400"/>
            <a:ext cx="15314316" cy="46978"/>
          </a:xfrm>
          <a:prstGeom prst="line">
            <a:avLst/>
          </a:prstGeom>
          <a:ln cap="flat" w="3810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1397396" y="3232716"/>
            <a:ext cx="14731524" cy="4816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35" indent="-291467" lvl="1">
              <a:lnSpc>
                <a:spcPts val="2916"/>
              </a:lnSpc>
              <a:buFont typeface="Arial"/>
              <a:buChar char="•"/>
            </a:pPr>
            <a:r>
              <a:rPr lang="en-US" sz="2700" spc="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SonarCloud flagged multiple instances of </a:t>
            </a:r>
            <a:r>
              <a:rPr lang="en-US" b="true" sz="2700" spc="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hashlib.sha1</a:t>
            </a:r>
            <a:r>
              <a:rPr lang="en-US" sz="2700" spc="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and </a:t>
            </a:r>
            <a:r>
              <a:rPr lang="en-US" b="true" sz="2700" spc="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pbkdf2_sha1</a:t>
            </a:r>
            <a:r>
              <a:rPr lang="en-US" sz="2700" spc="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with the warning: "Make sure that hashing data is safe here."</a:t>
            </a:r>
          </a:p>
          <a:p>
            <a:pPr algn="l">
              <a:lnSpc>
                <a:spcPts val="2916"/>
              </a:lnSpc>
            </a:pPr>
          </a:p>
          <a:p>
            <a:pPr algn="l" marL="582935" indent="-291467" lvl="1">
              <a:lnSpc>
                <a:spcPts val="2916"/>
              </a:lnSpc>
              <a:buFont typeface="Arial"/>
              <a:buChar char="•"/>
            </a:pPr>
            <a:r>
              <a:rPr lang="en-US" sz="2700" spc="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Automated SAST rule matching detects the SHA-1 signature, which is mathematically </a:t>
            </a:r>
            <a:r>
              <a:rPr lang="en-US" b="true" sz="2700" spc="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deprecated </a:t>
            </a:r>
            <a:r>
              <a:rPr lang="en-US" sz="2700" spc="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due to collision risks.</a:t>
            </a:r>
          </a:p>
          <a:p>
            <a:pPr algn="l">
              <a:lnSpc>
                <a:spcPts val="2916"/>
              </a:lnSpc>
            </a:pPr>
          </a:p>
          <a:p>
            <a:pPr algn="l" marL="582935" indent="-291467" lvl="1">
              <a:lnSpc>
                <a:spcPts val="2916"/>
              </a:lnSpc>
              <a:buFont typeface="Arial"/>
              <a:buChar char="•"/>
            </a:pPr>
            <a:r>
              <a:rPr lang="en-US" sz="2700" spc="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Code inspection reveals this is the </a:t>
            </a:r>
            <a:r>
              <a:rPr lang="en-US" b="true" sz="2700" spc="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PBKDF2SHA1PasswordHasher class</a:t>
            </a:r>
            <a:r>
              <a:rPr lang="en-US" sz="2700" spc="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, maintained purely for </a:t>
            </a:r>
            <a:r>
              <a:rPr lang="en-US" b="true" sz="2700" spc="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legacy database migration</a:t>
            </a:r>
            <a:r>
              <a:rPr lang="en-US" sz="2700" spc="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and </a:t>
            </a:r>
            <a:r>
              <a:rPr lang="en-US" b="true" sz="2700" spc="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backward compatibility</a:t>
            </a:r>
            <a:r>
              <a:rPr lang="en-US" sz="2700" spc="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>
              <a:lnSpc>
                <a:spcPts val="2916"/>
              </a:lnSpc>
            </a:pPr>
          </a:p>
          <a:p>
            <a:pPr algn="l" marL="582935" indent="-291467" lvl="1">
              <a:lnSpc>
                <a:spcPts val="3159"/>
              </a:lnSpc>
              <a:buFont typeface="Arial"/>
              <a:buChar char="•"/>
            </a:pPr>
            <a:r>
              <a:rPr lang="en-US" sz="2700" spc="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Framework defaults prioritize </a:t>
            </a:r>
            <a:r>
              <a:rPr lang="en-US" b="true" sz="2700" spc="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SHA-256</a:t>
            </a:r>
            <a:r>
              <a:rPr lang="en-US" sz="2700" spc="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and </a:t>
            </a:r>
            <a:r>
              <a:rPr lang="en-US" b="true" sz="2700" spc="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Argon2</a:t>
            </a:r>
            <a:r>
              <a:rPr lang="en-US" sz="2700" spc="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for new secret creation; the flagged code is </a:t>
            </a:r>
            <a:r>
              <a:rPr lang="en-US" b="true" sz="2700" spc="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never executed unless explicitly declared</a:t>
            </a:r>
            <a:r>
              <a:rPr lang="en-US" sz="2700" spc="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for legacy support.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19562" y="-76200"/>
            <a:ext cx="20878800" cy="10439400"/>
            <a:chOff x="0" y="0"/>
            <a:chExt cx="27838400" cy="13919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919200" cy="13919200"/>
            </a:xfrm>
            <a:custGeom>
              <a:avLst/>
              <a:gdLst/>
              <a:ahLst/>
              <a:cxnLst/>
              <a:rect r="r" b="b" t="t" l="l"/>
              <a:pathLst>
                <a:path h="13919200" w="13919200">
                  <a:moveTo>
                    <a:pt x="0" y="0"/>
                  </a:moveTo>
                  <a:lnTo>
                    <a:pt x="13919200" y="0"/>
                  </a:lnTo>
                  <a:lnTo>
                    <a:pt x="13919200" y="13919200"/>
                  </a:lnTo>
                  <a:lnTo>
                    <a:pt x="0" y="139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true" flipV="false" rot="0">
              <a:off x="13919200" y="0"/>
              <a:ext cx="13919200" cy="13919200"/>
            </a:xfrm>
            <a:custGeom>
              <a:avLst/>
              <a:gdLst/>
              <a:ahLst/>
              <a:cxnLst/>
              <a:rect r="r" b="b" t="t" l="l"/>
              <a:pathLst>
                <a:path h="13919200" w="13919200">
                  <a:moveTo>
                    <a:pt x="13919200" y="0"/>
                  </a:moveTo>
                  <a:lnTo>
                    <a:pt x="0" y="0"/>
                  </a:lnTo>
                  <a:lnTo>
                    <a:pt x="0" y="13919200"/>
                  </a:lnTo>
                  <a:lnTo>
                    <a:pt x="13919200" y="13919200"/>
                  </a:lnTo>
                  <a:lnTo>
                    <a:pt x="13919200" y="0"/>
                  </a:lnTo>
                  <a:close/>
                </a:path>
              </a:pathLst>
            </a:custGeom>
            <a:blipFill>
              <a:blip r:embed="rId2">
                <a:alphaModFix amt="8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true" rot="0">
            <a:off x="16034702" y="7982834"/>
            <a:ext cx="4973892" cy="4946762"/>
          </a:xfrm>
          <a:custGeom>
            <a:avLst/>
            <a:gdLst/>
            <a:ahLst/>
            <a:cxnLst/>
            <a:rect r="r" b="b" t="t" l="l"/>
            <a:pathLst>
              <a:path h="4946762" w="4973892">
                <a:moveTo>
                  <a:pt x="4973892" y="4946762"/>
                </a:moveTo>
                <a:lnTo>
                  <a:pt x="0" y="4946762"/>
                </a:lnTo>
                <a:lnTo>
                  <a:pt x="0" y="0"/>
                </a:lnTo>
                <a:lnTo>
                  <a:pt x="4973892" y="0"/>
                </a:lnTo>
                <a:lnTo>
                  <a:pt x="4973892" y="494676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-5400000">
            <a:off x="-1028700" y="8821170"/>
            <a:ext cx="4114800" cy="3231988"/>
          </a:xfrm>
          <a:custGeom>
            <a:avLst/>
            <a:gdLst/>
            <a:ahLst/>
            <a:cxnLst/>
            <a:rect r="r" b="b" t="t" l="l"/>
            <a:pathLst>
              <a:path h="3231988" w="4114800">
                <a:moveTo>
                  <a:pt x="4114800" y="0"/>
                </a:moveTo>
                <a:lnTo>
                  <a:pt x="0" y="0"/>
                </a:lnTo>
                <a:lnTo>
                  <a:pt x="0" y="3231989"/>
                </a:lnTo>
                <a:lnTo>
                  <a:pt x="4114800" y="3231989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5400000">
            <a:off x="15201900" y="-1758869"/>
            <a:ext cx="4114800" cy="3231988"/>
          </a:xfrm>
          <a:custGeom>
            <a:avLst/>
            <a:gdLst/>
            <a:ahLst/>
            <a:cxnLst/>
            <a:rect r="r" b="b" t="t" l="l"/>
            <a:pathLst>
              <a:path h="3231988" w="4114800">
                <a:moveTo>
                  <a:pt x="4114800" y="0"/>
                </a:moveTo>
                <a:lnTo>
                  <a:pt x="0" y="0"/>
                </a:lnTo>
                <a:lnTo>
                  <a:pt x="0" y="3231988"/>
                </a:lnTo>
                <a:lnTo>
                  <a:pt x="4114800" y="3231988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2624858" y="-2625781"/>
            <a:ext cx="4973892" cy="4946762"/>
          </a:xfrm>
          <a:custGeom>
            <a:avLst/>
            <a:gdLst/>
            <a:ahLst/>
            <a:cxnLst/>
            <a:rect r="r" b="b" t="t" l="l"/>
            <a:pathLst>
              <a:path h="4946762" w="4973892">
                <a:moveTo>
                  <a:pt x="0" y="0"/>
                </a:moveTo>
                <a:lnTo>
                  <a:pt x="4973893" y="0"/>
                </a:lnTo>
                <a:lnTo>
                  <a:pt x="4973893" y="4946762"/>
                </a:lnTo>
                <a:lnTo>
                  <a:pt x="0" y="49467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643220" y="2775527"/>
            <a:ext cx="9047890" cy="4823167"/>
          </a:xfrm>
          <a:custGeom>
            <a:avLst/>
            <a:gdLst/>
            <a:ahLst/>
            <a:cxnLst/>
            <a:rect r="r" b="b" t="t" l="l"/>
            <a:pathLst>
              <a:path h="4823167" w="9047890">
                <a:moveTo>
                  <a:pt x="0" y="0"/>
                </a:moveTo>
                <a:lnTo>
                  <a:pt x="9047890" y="0"/>
                </a:lnTo>
                <a:lnTo>
                  <a:pt x="9047890" y="4823167"/>
                </a:lnTo>
                <a:lnTo>
                  <a:pt x="0" y="482316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643220" y="1009650"/>
            <a:ext cx="13158641" cy="1466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400"/>
              </a:lnSpc>
            </a:pPr>
            <a:r>
              <a:rPr lang="en-US" sz="9500">
                <a:solidFill>
                  <a:srgbClr val="000000"/>
                </a:solidFill>
                <a:latin typeface="Squada One"/>
                <a:ea typeface="Squada One"/>
                <a:cs typeface="Squada One"/>
                <a:sym typeface="Squada One"/>
              </a:rPr>
              <a:t>DJANGO V3.2.13 - SAMPLE CVE</a:t>
            </a:r>
          </a:p>
        </p:txBody>
      </p:sp>
      <p:sp>
        <p:nvSpPr>
          <p:cNvPr name="AutoShape 14" id="14"/>
          <p:cNvSpPr/>
          <p:nvPr/>
        </p:nvSpPr>
        <p:spPr>
          <a:xfrm flipV="true">
            <a:off x="1643278" y="2340031"/>
            <a:ext cx="15314316" cy="46978"/>
          </a:xfrm>
          <a:prstGeom prst="line">
            <a:avLst/>
          </a:prstGeom>
          <a:ln cap="flat" w="3810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TextBox 15" id="15"/>
          <p:cNvSpPr txBox="true"/>
          <p:nvPr/>
        </p:nvSpPr>
        <p:spPr>
          <a:xfrm rot="0">
            <a:off x="10681585" y="2804102"/>
            <a:ext cx="6465299" cy="2908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35" indent="-291467" lvl="1">
              <a:lnSpc>
                <a:spcPts val="2916"/>
              </a:lnSpc>
              <a:buFont typeface="Arial"/>
              <a:buChar char="•"/>
            </a:pPr>
            <a:r>
              <a:rPr lang="en-US" sz="2700" spc="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Fixed in </a:t>
            </a:r>
            <a:r>
              <a:rPr lang="en-US" b="true" sz="2700" spc="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v3.2.14</a:t>
            </a:r>
          </a:p>
          <a:p>
            <a:pPr algn="l">
              <a:lnSpc>
                <a:spcPts val="2916"/>
              </a:lnSpc>
            </a:pPr>
          </a:p>
          <a:p>
            <a:pPr algn="l" marL="582935" indent="-291467" lvl="1">
              <a:lnSpc>
                <a:spcPts val="2916"/>
              </a:lnSpc>
              <a:buFont typeface="Arial"/>
              <a:buChar char="•"/>
            </a:pPr>
            <a:r>
              <a:rPr lang="en-US" sz="2700" spc="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SQL injection in </a:t>
            </a:r>
            <a:r>
              <a:rPr lang="en-US" b="true" sz="2700" spc="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Trunc()</a:t>
            </a:r>
            <a:r>
              <a:rPr lang="en-US" sz="2700" spc="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and </a:t>
            </a:r>
            <a:r>
              <a:rPr lang="en-US" b="true" sz="2700" spc="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Extract()</a:t>
            </a:r>
            <a:r>
              <a:rPr lang="en-US" sz="2700" spc="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database functions.</a:t>
            </a:r>
          </a:p>
          <a:p>
            <a:pPr algn="l">
              <a:lnSpc>
                <a:spcPts val="2916"/>
              </a:lnSpc>
            </a:pPr>
          </a:p>
          <a:p>
            <a:pPr algn="l" marL="582935" indent="-291467" lvl="1">
              <a:lnSpc>
                <a:spcPts val="2916"/>
              </a:lnSpc>
              <a:buFont typeface="Arial"/>
              <a:buChar char="•"/>
            </a:pPr>
            <a:r>
              <a:rPr lang="en-US" sz="2700" spc="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Not spotted by SonarQube </a:t>
            </a:r>
            <a:r>
              <a:rPr lang="en-US" b="true" sz="2700" spc="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(False Negative)</a:t>
            </a:r>
            <a:r>
              <a:rPr lang="en-US" sz="2700" spc="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, probably due to Framework Abstraction.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14678" y="7789194"/>
            <a:ext cx="11853448" cy="122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4826" indent="-292413" lvl="1">
              <a:lnSpc>
                <a:spcPts val="5038"/>
              </a:lnSpc>
              <a:buFont typeface="Arial"/>
              <a:buChar char="•"/>
            </a:pPr>
            <a:r>
              <a:rPr lang="en-US" sz="2708" spc="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NVD record: </a:t>
            </a:r>
            <a:r>
              <a:rPr lang="en-US" sz="2708" spc="100" u="sng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  <a:hlinkClick r:id="rId9" tooltip="https://nvd.nist.gov/vuln/detail/cve-2022-34265"/>
              </a:rPr>
              <a:t>https://nvd.nist.gov/vuln/detail/cve-2022-34265</a:t>
            </a:r>
          </a:p>
          <a:p>
            <a:pPr algn="l" marL="584826" indent="-292413" lvl="1">
              <a:lnSpc>
                <a:spcPts val="5038"/>
              </a:lnSpc>
              <a:buFont typeface="Arial"/>
              <a:buChar char="•"/>
            </a:pPr>
            <a:r>
              <a:rPr lang="en-US" sz="2708" spc="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PoC: </a:t>
            </a:r>
            <a:r>
              <a:rPr lang="en-US" sz="2708" spc="100" u="sng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  <a:hlinkClick r:id="rId10" tooltip="https://github.com/aeyesec/CVE-2022-34265"/>
              </a:rPr>
              <a:t>https://github.com/aeyesec/CVE-2022-34265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19562" y="-76200"/>
            <a:ext cx="20878800" cy="10439400"/>
            <a:chOff x="0" y="0"/>
            <a:chExt cx="27838400" cy="13919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919200" cy="13919200"/>
            </a:xfrm>
            <a:custGeom>
              <a:avLst/>
              <a:gdLst/>
              <a:ahLst/>
              <a:cxnLst/>
              <a:rect r="r" b="b" t="t" l="l"/>
              <a:pathLst>
                <a:path h="13919200" w="13919200">
                  <a:moveTo>
                    <a:pt x="0" y="0"/>
                  </a:moveTo>
                  <a:lnTo>
                    <a:pt x="13919200" y="0"/>
                  </a:lnTo>
                  <a:lnTo>
                    <a:pt x="13919200" y="13919200"/>
                  </a:lnTo>
                  <a:lnTo>
                    <a:pt x="0" y="139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true" flipV="false" rot="0">
              <a:off x="13919200" y="0"/>
              <a:ext cx="13919200" cy="13919200"/>
            </a:xfrm>
            <a:custGeom>
              <a:avLst/>
              <a:gdLst/>
              <a:ahLst/>
              <a:cxnLst/>
              <a:rect r="r" b="b" t="t" l="l"/>
              <a:pathLst>
                <a:path h="13919200" w="13919200">
                  <a:moveTo>
                    <a:pt x="13919200" y="0"/>
                  </a:moveTo>
                  <a:lnTo>
                    <a:pt x="0" y="0"/>
                  </a:lnTo>
                  <a:lnTo>
                    <a:pt x="0" y="13919200"/>
                  </a:lnTo>
                  <a:lnTo>
                    <a:pt x="13919200" y="13919200"/>
                  </a:lnTo>
                  <a:lnTo>
                    <a:pt x="13919200" y="0"/>
                  </a:lnTo>
                  <a:close/>
                </a:path>
              </a:pathLst>
            </a:custGeom>
            <a:blipFill>
              <a:blip r:embed="rId2">
                <a:alphaModFix amt="8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true" rot="0">
            <a:off x="16034702" y="7982834"/>
            <a:ext cx="4973892" cy="4946762"/>
          </a:xfrm>
          <a:custGeom>
            <a:avLst/>
            <a:gdLst/>
            <a:ahLst/>
            <a:cxnLst/>
            <a:rect r="r" b="b" t="t" l="l"/>
            <a:pathLst>
              <a:path h="4946762" w="4973892">
                <a:moveTo>
                  <a:pt x="4973892" y="4946762"/>
                </a:moveTo>
                <a:lnTo>
                  <a:pt x="0" y="4946762"/>
                </a:lnTo>
                <a:lnTo>
                  <a:pt x="0" y="0"/>
                </a:lnTo>
                <a:lnTo>
                  <a:pt x="4973892" y="0"/>
                </a:lnTo>
                <a:lnTo>
                  <a:pt x="4973892" y="494676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-5400000">
            <a:off x="-1028700" y="8821170"/>
            <a:ext cx="4114800" cy="3231988"/>
          </a:xfrm>
          <a:custGeom>
            <a:avLst/>
            <a:gdLst/>
            <a:ahLst/>
            <a:cxnLst/>
            <a:rect r="r" b="b" t="t" l="l"/>
            <a:pathLst>
              <a:path h="3231988" w="4114800">
                <a:moveTo>
                  <a:pt x="4114800" y="0"/>
                </a:moveTo>
                <a:lnTo>
                  <a:pt x="0" y="0"/>
                </a:lnTo>
                <a:lnTo>
                  <a:pt x="0" y="3231989"/>
                </a:lnTo>
                <a:lnTo>
                  <a:pt x="4114800" y="3231989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5400000">
            <a:off x="15201900" y="-1758869"/>
            <a:ext cx="4114800" cy="3231988"/>
          </a:xfrm>
          <a:custGeom>
            <a:avLst/>
            <a:gdLst/>
            <a:ahLst/>
            <a:cxnLst/>
            <a:rect r="r" b="b" t="t" l="l"/>
            <a:pathLst>
              <a:path h="3231988" w="4114800">
                <a:moveTo>
                  <a:pt x="4114800" y="0"/>
                </a:moveTo>
                <a:lnTo>
                  <a:pt x="0" y="0"/>
                </a:lnTo>
                <a:lnTo>
                  <a:pt x="0" y="3231988"/>
                </a:lnTo>
                <a:lnTo>
                  <a:pt x="4114800" y="3231988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2624858" y="-2625781"/>
            <a:ext cx="4973892" cy="4946762"/>
          </a:xfrm>
          <a:custGeom>
            <a:avLst/>
            <a:gdLst/>
            <a:ahLst/>
            <a:cxnLst/>
            <a:rect r="r" b="b" t="t" l="l"/>
            <a:pathLst>
              <a:path h="4946762" w="4973892">
                <a:moveTo>
                  <a:pt x="0" y="0"/>
                </a:moveTo>
                <a:lnTo>
                  <a:pt x="4973893" y="0"/>
                </a:lnTo>
                <a:lnTo>
                  <a:pt x="4973893" y="4946762"/>
                </a:lnTo>
                <a:lnTo>
                  <a:pt x="0" y="49467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486842" y="1009650"/>
            <a:ext cx="10239977" cy="1466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400"/>
              </a:lnSpc>
            </a:pPr>
            <a:r>
              <a:rPr lang="en-US" sz="9500">
                <a:solidFill>
                  <a:srgbClr val="000000"/>
                </a:solidFill>
                <a:latin typeface="Squada One"/>
                <a:ea typeface="Squada One"/>
                <a:cs typeface="Squada One"/>
                <a:sym typeface="Squada One"/>
              </a:rPr>
              <a:t>DJANGO V3.2.13 (SCA)</a:t>
            </a:r>
          </a:p>
        </p:txBody>
      </p:sp>
      <p:sp>
        <p:nvSpPr>
          <p:cNvPr name="AutoShape 13" id="13"/>
          <p:cNvSpPr/>
          <p:nvPr/>
        </p:nvSpPr>
        <p:spPr>
          <a:xfrm flipV="true">
            <a:off x="1486842" y="2476500"/>
            <a:ext cx="15314316" cy="46978"/>
          </a:xfrm>
          <a:prstGeom prst="line">
            <a:avLst/>
          </a:prstGeom>
          <a:ln cap="flat" w="3810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1486842" y="2675878"/>
            <a:ext cx="8233857" cy="6232826"/>
          </a:xfrm>
          <a:custGeom>
            <a:avLst/>
            <a:gdLst/>
            <a:ahLst/>
            <a:cxnLst/>
            <a:rect r="r" b="b" t="t" l="l"/>
            <a:pathLst>
              <a:path h="6232826" w="8233857">
                <a:moveTo>
                  <a:pt x="0" y="0"/>
                </a:moveTo>
                <a:lnTo>
                  <a:pt x="8233856" y="0"/>
                </a:lnTo>
                <a:lnTo>
                  <a:pt x="8233856" y="6232826"/>
                </a:lnTo>
                <a:lnTo>
                  <a:pt x="0" y="623282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-66826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9806423" y="2752078"/>
            <a:ext cx="7135157" cy="5866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35" indent="-291467" lvl="1">
              <a:lnSpc>
                <a:spcPts val="3321"/>
              </a:lnSpc>
              <a:buFont typeface="Arial"/>
              <a:buChar char="•"/>
            </a:pPr>
            <a:r>
              <a:rPr lang="en-US" sz="2700" spc="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Although django have some dependencies, Trivy doesn't seem to pickup on them.</a:t>
            </a:r>
          </a:p>
          <a:p>
            <a:pPr algn="l">
              <a:lnSpc>
                <a:spcPts val="3321"/>
              </a:lnSpc>
            </a:pPr>
          </a:p>
          <a:p>
            <a:pPr algn="l" marL="582935" indent="-291467" lvl="1">
              <a:lnSpc>
                <a:spcPts val="3321"/>
              </a:lnSpc>
              <a:buFont typeface="Arial"/>
              <a:buChar char="•"/>
            </a:pPr>
            <a:r>
              <a:rPr lang="en-US" sz="2700" spc="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Probably because django dependencies are in setup.cfg file.</a:t>
            </a:r>
          </a:p>
          <a:p>
            <a:pPr algn="l">
              <a:lnSpc>
                <a:spcPts val="3321"/>
              </a:lnSpc>
            </a:pPr>
          </a:p>
          <a:p>
            <a:pPr algn="l" marL="582935" indent="-291467" lvl="1">
              <a:lnSpc>
                <a:spcPts val="3321"/>
              </a:lnSpc>
              <a:buFont typeface="Arial"/>
              <a:buChar char="•"/>
            </a:pPr>
            <a:r>
              <a:rPr lang="en-US" sz="2700" spc="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Executed the following command in the repo to have a .txt file with the dependencies.</a:t>
            </a:r>
          </a:p>
          <a:p>
            <a:pPr algn="l">
              <a:lnSpc>
                <a:spcPts val="3321"/>
              </a:lnSpc>
            </a:pPr>
          </a:p>
          <a:p>
            <a:pPr algn="l" marL="582935" indent="-291467" lvl="1">
              <a:lnSpc>
                <a:spcPts val="3321"/>
              </a:lnSpc>
              <a:buFont typeface="Arial"/>
              <a:buChar char="•"/>
            </a:pPr>
            <a:r>
              <a:rPr lang="en-US" sz="2700" spc="99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pip freeze &gt; requirements.txt</a:t>
            </a:r>
          </a:p>
          <a:p>
            <a:pPr algn="l">
              <a:lnSpc>
                <a:spcPts val="3321"/>
              </a:lnSpc>
            </a:pPr>
          </a:p>
          <a:p>
            <a:pPr algn="l" marL="582935" indent="-291467" lvl="1">
              <a:lnSpc>
                <a:spcPts val="3321"/>
              </a:lnSpc>
              <a:buFont typeface="Arial"/>
              <a:buChar char="•"/>
            </a:pPr>
            <a:r>
              <a:rPr lang="en-US" sz="2700" spc="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Results in the next slides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19562" y="-76200"/>
            <a:ext cx="20878800" cy="10439400"/>
            <a:chOff x="0" y="0"/>
            <a:chExt cx="27838400" cy="13919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919200" cy="13919200"/>
            </a:xfrm>
            <a:custGeom>
              <a:avLst/>
              <a:gdLst/>
              <a:ahLst/>
              <a:cxnLst/>
              <a:rect r="r" b="b" t="t" l="l"/>
              <a:pathLst>
                <a:path h="13919200" w="13919200">
                  <a:moveTo>
                    <a:pt x="0" y="0"/>
                  </a:moveTo>
                  <a:lnTo>
                    <a:pt x="13919200" y="0"/>
                  </a:lnTo>
                  <a:lnTo>
                    <a:pt x="13919200" y="13919200"/>
                  </a:lnTo>
                  <a:lnTo>
                    <a:pt x="0" y="139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true" flipV="false" rot="0">
              <a:off x="13919200" y="0"/>
              <a:ext cx="13919200" cy="13919200"/>
            </a:xfrm>
            <a:custGeom>
              <a:avLst/>
              <a:gdLst/>
              <a:ahLst/>
              <a:cxnLst/>
              <a:rect r="r" b="b" t="t" l="l"/>
              <a:pathLst>
                <a:path h="13919200" w="13919200">
                  <a:moveTo>
                    <a:pt x="13919200" y="0"/>
                  </a:moveTo>
                  <a:lnTo>
                    <a:pt x="0" y="0"/>
                  </a:lnTo>
                  <a:lnTo>
                    <a:pt x="0" y="13919200"/>
                  </a:lnTo>
                  <a:lnTo>
                    <a:pt x="13919200" y="13919200"/>
                  </a:lnTo>
                  <a:lnTo>
                    <a:pt x="13919200" y="0"/>
                  </a:lnTo>
                  <a:close/>
                </a:path>
              </a:pathLst>
            </a:custGeom>
            <a:blipFill>
              <a:blip r:embed="rId2">
                <a:alphaModFix amt="8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true" rot="0">
            <a:off x="16034702" y="7982834"/>
            <a:ext cx="4973892" cy="4946762"/>
          </a:xfrm>
          <a:custGeom>
            <a:avLst/>
            <a:gdLst/>
            <a:ahLst/>
            <a:cxnLst/>
            <a:rect r="r" b="b" t="t" l="l"/>
            <a:pathLst>
              <a:path h="4946762" w="4973892">
                <a:moveTo>
                  <a:pt x="4973892" y="4946762"/>
                </a:moveTo>
                <a:lnTo>
                  <a:pt x="0" y="4946762"/>
                </a:lnTo>
                <a:lnTo>
                  <a:pt x="0" y="0"/>
                </a:lnTo>
                <a:lnTo>
                  <a:pt x="4973892" y="0"/>
                </a:lnTo>
                <a:lnTo>
                  <a:pt x="4973892" y="494676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-5400000">
            <a:off x="-1028700" y="8821170"/>
            <a:ext cx="4114800" cy="3231988"/>
          </a:xfrm>
          <a:custGeom>
            <a:avLst/>
            <a:gdLst/>
            <a:ahLst/>
            <a:cxnLst/>
            <a:rect r="r" b="b" t="t" l="l"/>
            <a:pathLst>
              <a:path h="3231988" w="4114800">
                <a:moveTo>
                  <a:pt x="4114800" y="0"/>
                </a:moveTo>
                <a:lnTo>
                  <a:pt x="0" y="0"/>
                </a:lnTo>
                <a:lnTo>
                  <a:pt x="0" y="3231989"/>
                </a:lnTo>
                <a:lnTo>
                  <a:pt x="4114800" y="3231989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5400000">
            <a:off x="15201900" y="-1758869"/>
            <a:ext cx="4114800" cy="3231988"/>
          </a:xfrm>
          <a:custGeom>
            <a:avLst/>
            <a:gdLst/>
            <a:ahLst/>
            <a:cxnLst/>
            <a:rect r="r" b="b" t="t" l="l"/>
            <a:pathLst>
              <a:path h="3231988" w="4114800">
                <a:moveTo>
                  <a:pt x="4114800" y="0"/>
                </a:moveTo>
                <a:lnTo>
                  <a:pt x="0" y="0"/>
                </a:lnTo>
                <a:lnTo>
                  <a:pt x="0" y="3231988"/>
                </a:lnTo>
                <a:lnTo>
                  <a:pt x="4114800" y="3231988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2624858" y="-2625781"/>
            <a:ext cx="4973892" cy="4946762"/>
          </a:xfrm>
          <a:custGeom>
            <a:avLst/>
            <a:gdLst/>
            <a:ahLst/>
            <a:cxnLst/>
            <a:rect r="r" b="b" t="t" l="l"/>
            <a:pathLst>
              <a:path h="4946762" w="4973892">
                <a:moveTo>
                  <a:pt x="0" y="0"/>
                </a:moveTo>
                <a:lnTo>
                  <a:pt x="4973893" y="0"/>
                </a:lnTo>
                <a:lnTo>
                  <a:pt x="4973893" y="4946762"/>
                </a:lnTo>
                <a:lnTo>
                  <a:pt x="0" y="49467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486842" y="1009650"/>
            <a:ext cx="10239977" cy="1466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400"/>
              </a:lnSpc>
            </a:pPr>
            <a:r>
              <a:rPr lang="en-US" sz="9500">
                <a:solidFill>
                  <a:srgbClr val="000000"/>
                </a:solidFill>
                <a:latin typeface="Squada One"/>
                <a:ea typeface="Squada One"/>
                <a:cs typeface="Squada One"/>
                <a:sym typeface="Squada One"/>
              </a:rPr>
              <a:t>DJANGO V3.2.13 (SCA)</a:t>
            </a:r>
          </a:p>
        </p:txBody>
      </p:sp>
      <p:sp>
        <p:nvSpPr>
          <p:cNvPr name="AutoShape 13" id="13"/>
          <p:cNvSpPr/>
          <p:nvPr/>
        </p:nvSpPr>
        <p:spPr>
          <a:xfrm flipV="true">
            <a:off x="1486842" y="2476500"/>
            <a:ext cx="15314316" cy="46978"/>
          </a:xfrm>
          <a:prstGeom prst="line">
            <a:avLst/>
          </a:prstGeom>
          <a:ln cap="flat" w="3810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1486842" y="2675878"/>
            <a:ext cx="15164585" cy="5837126"/>
          </a:xfrm>
          <a:custGeom>
            <a:avLst/>
            <a:gdLst/>
            <a:ahLst/>
            <a:cxnLst/>
            <a:rect r="r" b="b" t="t" l="l"/>
            <a:pathLst>
              <a:path h="5837126" w="15164585">
                <a:moveTo>
                  <a:pt x="0" y="0"/>
                </a:moveTo>
                <a:lnTo>
                  <a:pt x="15164584" y="0"/>
                </a:lnTo>
                <a:lnTo>
                  <a:pt x="15164584" y="5837126"/>
                </a:lnTo>
                <a:lnTo>
                  <a:pt x="0" y="583712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578" r="0" b="-578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19562" y="-76200"/>
            <a:ext cx="20878800" cy="10439400"/>
            <a:chOff x="0" y="0"/>
            <a:chExt cx="27838400" cy="13919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919200" cy="13919200"/>
            </a:xfrm>
            <a:custGeom>
              <a:avLst/>
              <a:gdLst/>
              <a:ahLst/>
              <a:cxnLst/>
              <a:rect r="r" b="b" t="t" l="l"/>
              <a:pathLst>
                <a:path h="13919200" w="13919200">
                  <a:moveTo>
                    <a:pt x="0" y="0"/>
                  </a:moveTo>
                  <a:lnTo>
                    <a:pt x="13919200" y="0"/>
                  </a:lnTo>
                  <a:lnTo>
                    <a:pt x="13919200" y="13919200"/>
                  </a:lnTo>
                  <a:lnTo>
                    <a:pt x="0" y="139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true" flipV="false" rot="0">
              <a:off x="13919200" y="0"/>
              <a:ext cx="13919200" cy="13919200"/>
            </a:xfrm>
            <a:custGeom>
              <a:avLst/>
              <a:gdLst/>
              <a:ahLst/>
              <a:cxnLst/>
              <a:rect r="r" b="b" t="t" l="l"/>
              <a:pathLst>
                <a:path h="13919200" w="13919200">
                  <a:moveTo>
                    <a:pt x="13919200" y="0"/>
                  </a:moveTo>
                  <a:lnTo>
                    <a:pt x="0" y="0"/>
                  </a:lnTo>
                  <a:lnTo>
                    <a:pt x="0" y="13919200"/>
                  </a:lnTo>
                  <a:lnTo>
                    <a:pt x="13919200" y="13919200"/>
                  </a:lnTo>
                  <a:lnTo>
                    <a:pt x="13919200" y="0"/>
                  </a:lnTo>
                  <a:close/>
                </a:path>
              </a:pathLst>
            </a:custGeom>
            <a:blipFill>
              <a:blip r:embed="rId2">
                <a:alphaModFix amt="8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true" rot="0">
            <a:off x="16034702" y="7982834"/>
            <a:ext cx="4973892" cy="4946762"/>
          </a:xfrm>
          <a:custGeom>
            <a:avLst/>
            <a:gdLst/>
            <a:ahLst/>
            <a:cxnLst/>
            <a:rect r="r" b="b" t="t" l="l"/>
            <a:pathLst>
              <a:path h="4946762" w="4973892">
                <a:moveTo>
                  <a:pt x="4973892" y="4946762"/>
                </a:moveTo>
                <a:lnTo>
                  <a:pt x="0" y="4946762"/>
                </a:lnTo>
                <a:lnTo>
                  <a:pt x="0" y="0"/>
                </a:lnTo>
                <a:lnTo>
                  <a:pt x="4973892" y="0"/>
                </a:lnTo>
                <a:lnTo>
                  <a:pt x="4973892" y="494676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-5400000">
            <a:off x="-1028700" y="8821170"/>
            <a:ext cx="4114800" cy="3231988"/>
          </a:xfrm>
          <a:custGeom>
            <a:avLst/>
            <a:gdLst/>
            <a:ahLst/>
            <a:cxnLst/>
            <a:rect r="r" b="b" t="t" l="l"/>
            <a:pathLst>
              <a:path h="3231988" w="4114800">
                <a:moveTo>
                  <a:pt x="4114800" y="0"/>
                </a:moveTo>
                <a:lnTo>
                  <a:pt x="0" y="0"/>
                </a:lnTo>
                <a:lnTo>
                  <a:pt x="0" y="3231989"/>
                </a:lnTo>
                <a:lnTo>
                  <a:pt x="4114800" y="3231989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5400000">
            <a:off x="15201900" y="-1758869"/>
            <a:ext cx="4114800" cy="3231988"/>
          </a:xfrm>
          <a:custGeom>
            <a:avLst/>
            <a:gdLst/>
            <a:ahLst/>
            <a:cxnLst/>
            <a:rect r="r" b="b" t="t" l="l"/>
            <a:pathLst>
              <a:path h="3231988" w="4114800">
                <a:moveTo>
                  <a:pt x="4114800" y="0"/>
                </a:moveTo>
                <a:lnTo>
                  <a:pt x="0" y="0"/>
                </a:lnTo>
                <a:lnTo>
                  <a:pt x="0" y="3231988"/>
                </a:lnTo>
                <a:lnTo>
                  <a:pt x="4114800" y="3231988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2624858" y="-2625781"/>
            <a:ext cx="4973892" cy="4946762"/>
          </a:xfrm>
          <a:custGeom>
            <a:avLst/>
            <a:gdLst/>
            <a:ahLst/>
            <a:cxnLst/>
            <a:rect r="r" b="b" t="t" l="l"/>
            <a:pathLst>
              <a:path h="4946762" w="4973892">
                <a:moveTo>
                  <a:pt x="0" y="0"/>
                </a:moveTo>
                <a:lnTo>
                  <a:pt x="4973893" y="0"/>
                </a:lnTo>
                <a:lnTo>
                  <a:pt x="4973893" y="4946762"/>
                </a:lnTo>
                <a:lnTo>
                  <a:pt x="0" y="49467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486842" y="1009650"/>
            <a:ext cx="10239977" cy="1466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400"/>
              </a:lnSpc>
            </a:pPr>
            <a:r>
              <a:rPr lang="en-US" sz="9500">
                <a:solidFill>
                  <a:srgbClr val="000000"/>
                </a:solidFill>
                <a:latin typeface="Squada One"/>
                <a:ea typeface="Squada One"/>
                <a:cs typeface="Squada One"/>
                <a:sym typeface="Squada One"/>
              </a:rPr>
              <a:t>DJANGO V3.2.13 (SCA)</a:t>
            </a:r>
          </a:p>
        </p:txBody>
      </p:sp>
      <p:sp>
        <p:nvSpPr>
          <p:cNvPr name="AutoShape 13" id="13"/>
          <p:cNvSpPr/>
          <p:nvPr/>
        </p:nvSpPr>
        <p:spPr>
          <a:xfrm flipV="true">
            <a:off x="1486842" y="2476500"/>
            <a:ext cx="15314316" cy="46978"/>
          </a:xfrm>
          <a:prstGeom prst="line">
            <a:avLst/>
          </a:prstGeom>
          <a:ln cap="flat" w="3810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1486842" y="2757413"/>
            <a:ext cx="13788050" cy="6290798"/>
          </a:xfrm>
          <a:custGeom>
            <a:avLst/>
            <a:gdLst/>
            <a:ahLst/>
            <a:cxnLst/>
            <a:rect r="r" b="b" t="t" l="l"/>
            <a:pathLst>
              <a:path h="6290798" w="13788050">
                <a:moveTo>
                  <a:pt x="0" y="0"/>
                </a:moveTo>
                <a:lnTo>
                  <a:pt x="13788050" y="0"/>
                </a:lnTo>
                <a:lnTo>
                  <a:pt x="13788050" y="6290797"/>
                </a:lnTo>
                <a:lnTo>
                  <a:pt x="0" y="629079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19562" y="-76200"/>
            <a:ext cx="20878800" cy="10439400"/>
            <a:chOff x="0" y="0"/>
            <a:chExt cx="27838400" cy="13919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919200" cy="13919200"/>
            </a:xfrm>
            <a:custGeom>
              <a:avLst/>
              <a:gdLst/>
              <a:ahLst/>
              <a:cxnLst/>
              <a:rect r="r" b="b" t="t" l="l"/>
              <a:pathLst>
                <a:path h="13919200" w="13919200">
                  <a:moveTo>
                    <a:pt x="0" y="0"/>
                  </a:moveTo>
                  <a:lnTo>
                    <a:pt x="13919200" y="0"/>
                  </a:lnTo>
                  <a:lnTo>
                    <a:pt x="13919200" y="13919200"/>
                  </a:lnTo>
                  <a:lnTo>
                    <a:pt x="0" y="139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true" flipV="false" rot="0">
              <a:off x="13919200" y="0"/>
              <a:ext cx="13919200" cy="13919200"/>
            </a:xfrm>
            <a:custGeom>
              <a:avLst/>
              <a:gdLst/>
              <a:ahLst/>
              <a:cxnLst/>
              <a:rect r="r" b="b" t="t" l="l"/>
              <a:pathLst>
                <a:path h="13919200" w="13919200">
                  <a:moveTo>
                    <a:pt x="13919200" y="0"/>
                  </a:moveTo>
                  <a:lnTo>
                    <a:pt x="0" y="0"/>
                  </a:lnTo>
                  <a:lnTo>
                    <a:pt x="0" y="13919200"/>
                  </a:lnTo>
                  <a:lnTo>
                    <a:pt x="13919200" y="13919200"/>
                  </a:lnTo>
                  <a:lnTo>
                    <a:pt x="13919200" y="0"/>
                  </a:lnTo>
                  <a:close/>
                </a:path>
              </a:pathLst>
            </a:custGeom>
            <a:blipFill>
              <a:blip r:embed="rId2">
                <a:alphaModFix amt="8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true" rot="0">
            <a:off x="16034702" y="7982834"/>
            <a:ext cx="4973892" cy="4946762"/>
          </a:xfrm>
          <a:custGeom>
            <a:avLst/>
            <a:gdLst/>
            <a:ahLst/>
            <a:cxnLst/>
            <a:rect r="r" b="b" t="t" l="l"/>
            <a:pathLst>
              <a:path h="4946762" w="4973892">
                <a:moveTo>
                  <a:pt x="4973892" y="4946762"/>
                </a:moveTo>
                <a:lnTo>
                  <a:pt x="0" y="4946762"/>
                </a:lnTo>
                <a:lnTo>
                  <a:pt x="0" y="0"/>
                </a:lnTo>
                <a:lnTo>
                  <a:pt x="4973892" y="0"/>
                </a:lnTo>
                <a:lnTo>
                  <a:pt x="4973892" y="494676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-5400000">
            <a:off x="-1028700" y="8821170"/>
            <a:ext cx="4114800" cy="3231988"/>
          </a:xfrm>
          <a:custGeom>
            <a:avLst/>
            <a:gdLst/>
            <a:ahLst/>
            <a:cxnLst/>
            <a:rect r="r" b="b" t="t" l="l"/>
            <a:pathLst>
              <a:path h="3231988" w="4114800">
                <a:moveTo>
                  <a:pt x="4114800" y="0"/>
                </a:moveTo>
                <a:lnTo>
                  <a:pt x="0" y="0"/>
                </a:lnTo>
                <a:lnTo>
                  <a:pt x="0" y="3231989"/>
                </a:lnTo>
                <a:lnTo>
                  <a:pt x="4114800" y="3231989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5400000">
            <a:off x="15201900" y="-1758869"/>
            <a:ext cx="4114800" cy="3231988"/>
          </a:xfrm>
          <a:custGeom>
            <a:avLst/>
            <a:gdLst/>
            <a:ahLst/>
            <a:cxnLst/>
            <a:rect r="r" b="b" t="t" l="l"/>
            <a:pathLst>
              <a:path h="3231988" w="4114800">
                <a:moveTo>
                  <a:pt x="4114800" y="0"/>
                </a:moveTo>
                <a:lnTo>
                  <a:pt x="0" y="0"/>
                </a:lnTo>
                <a:lnTo>
                  <a:pt x="0" y="3231988"/>
                </a:lnTo>
                <a:lnTo>
                  <a:pt x="4114800" y="3231988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2624858" y="-2625781"/>
            <a:ext cx="4973892" cy="4946762"/>
          </a:xfrm>
          <a:custGeom>
            <a:avLst/>
            <a:gdLst/>
            <a:ahLst/>
            <a:cxnLst/>
            <a:rect r="r" b="b" t="t" l="l"/>
            <a:pathLst>
              <a:path h="4946762" w="4973892">
                <a:moveTo>
                  <a:pt x="0" y="0"/>
                </a:moveTo>
                <a:lnTo>
                  <a:pt x="4973893" y="0"/>
                </a:lnTo>
                <a:lnTo>
                  <a:pt x="4973893" y="4946762"/>
                </a:lnTo>
                <a:lnTo>
                  <a:pt x="0" y="49467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486842" y="1009650"/>
            <a:ext cx="10239977" cy="1466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400"/>
              </a:lnSpc>
            </a:pPr>
            <a:r>
              <a:rPr lang="en-US" sz="9500">
                <a:solidFill>
                  <a:srgbClr val="000000"/>
                </a:solidFill>
                <a:latin typeface="Squada One"/>
                <a:ea typeface="Squada One"/>
                <a:cs typeface="Squada One"/>
                <a:sym typeface="Squada One"/>
              </a:rPr>
              <a:t>DJANGO V3.2.13 (SCA)</a:t>
            </a:r>
          </a:p>
        </p:txBody>
      </p:sp>
      <p:sp>
        <p:nvSpPr>
          <p:cNvPr name="AutoShape 13" id="13"/>
          <p:cNvSpPr/>
          <p:nvPr/>
        </p:nvSpPr>
        <p:spPr>
          <a:xfrm flipV="true">
            <a:off x="1486842" y="2476500"/>
            <a:ext cx="15314316" cy="46978"/>
          </a:xfrm>
          <a:prstGeom prst="line">
            <a:avLst/>
          </a:prstGeom>
          <a:ln cap="flat" w="3810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1486842" y="2797961"/>
            <a:ext cx="13084230" cy="6460339"/>
          </a:xfrm>
          <a:custGeom>
            <a:avLst/>
            <a:gdLst/>
            <a:ahLst/>
            <a:cxnLst/>
            <a:rect r="r" b="b" t="t" l="l"/>
            <a:pathLst>
              <a:path h="6460339" w="13084230">
                <a:moveTo>
                  <a:pt x="0" y="0"/>
                </a:moveTo>
                <a:lnTo>
                  <a:pt x="13084230" y="0"/>
                </a:lnTo>
                <a:lnTo>
                  <a:pt x="13084230" y="6460339"/>
                </a:lnTo>
                <a:lnTo>
                  <a:pt x="0" y="64603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19562" y="-76200"/>
            <a:ext cx="20878800" cy="10439400"/>
            <a:chOff x="0" y="0"/>
            <a:chExt cx="27838400" cy="13919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919200" cy="13919200"/>
            </a:xfrm>
            <a:custGeom>
              <a:avLst/>
              <a:gdLst/>
              <a:ahLst/>
              <a:cxnLst/>
              <a:rect r="r" b="b" t="t" l="l"/>
              <a:pathLst>
                <a:path h="13919200" w="13919200">
                  <a:moveTo>
                    <a:pt x="0" y="0"/>
                  </a:moveTo>
                  <a:lnTo>
                    <a:pt x="13919200" y="0"/>
                  </a:lnTo>
                  <a:lnTo>
                    <a:pt x="13919200" y="13919200"/>
                  </a:lnTo>
                  <a:lnTo>
                    <a:pt x="0" y="139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true" flipV="false" rot="0">
              <a:off x="13919200" y="0"/>
              <a:ext cx="13919200" cy="13919200"/>
            </a:xfrm>
            <a:custGeom>
              <a:avLst/>
              <a:gdLst/>
              <a:ahLst/>
              <a:cxnLst/>
              <a:rect r="r" b="b" t="t" l="l"/>
              <a:pathLst>
                <a:path h="13919200" w="13919200">
                  <a:moveTo>
                    <a:pt x="13919200" y="0"/>
                  </a:moveTo>
                  <a:lnTo>
                    <a:pt x="0" y="0"/>
                  </a:lnTo>
                  <a:lnTo>
                    <a:pt x="0" y="13919200"/>
                  </a:lnTo>
                  <a:lnTo>
                    <a:pt x="13919200" y="13919200"/>
                  </a:lnTo>
                  <a:lnTo>
                    <a:pt x="13919200" y="0"/>
                  </a:lnTo>
                  <a:close/>
                </a:path>
              </a:pathLst>
            </a:custGeom>
            <a:blipFill>
              <a:blip r:embed="rId2">
                <a:alphaModFix amt="8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1153477"/>
            <a:ext cx="16230600" cy="8229600"/>
            <a:chOff x="0" y="0"/>
            <a:chExt cx="4274726" cy="216746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918394" y="1439227"/>
            <a:ext cx="14451211" cy="1160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65"/>
              </a:lnSpc>
            </a:pPr>
            <a:r>
              <a:rPr lang="en-US" sz="9500">
                <a:solidFill>
                  <a:srgbClr val="000000"/>
                </a:solidFill>
                <a:latin typeface="Squada One"/>
                <a:ea typeface="Squada One"/>
                <a:cs typeface="Squada One"/>
                <a:sym typeface="Squada One"/>
              </a:rPr>
              <a:t>Gomoku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918394" y="3037203"/>
            <a:ext cx="14116308" cy="4854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35" indent="-291467" lvl="1">
              <a:lnSpc>
                <a:spcPts val="5589"/>
              </a:lnSpc>
              <a:buFont typeface="Arial"/>
              <a:buChar char="•"/>
            </a:pPr>
            <a:r>
              <a:rPr lang="en-US" b="true" sz="2700" spc="99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My personal repository</a:t>
            </a:r>
          </a:p>
          <a:p>
            <a:pPr algn="l" marL="582935" indent="-291467" lvl="1">
              <a:lnSpc>
                <a:spcPts val="5589"/>
              </a:lnSpc>
              <a:buFont typeface="Arial"/>
              <a:buChar char="•"/>
            </a:pPr>
            <a:r>
              <a:rPr lang="en-US" b="true" sz="2700" spc="99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Written in Java</a:t>
            </a:r>
          </a:p>
          <a:p>
            <a:pPr algn="l" marL="582935" indent="-291467" lvl="1">
              <a:lnSpc>
                <a:spcPts val="5589"/>
              </a:lnSpc>
              <a:buFont typeface="Arial"/>
              <a:buChar char="•"/>
            </a:pPr>
            <a:r>
              <a:rPr lang="en-US" b="true" sz="2700" spc="99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Gomoku is a classic two-player board game implemented in Java for the command line.</a:t>
            </a:r>
          </a:p>
          <a:p>
            <a:pPr algn="l" marL="582935" indent="-291467" lvl="1">
              <a:lnSpc>
                <a:spcPts val="5589"/>
              </a:lnSpc>
              <a:buFont typeface="Arial"/>
              <a:buChar char="•"/>
            </a:pPr>
            <a:r>
              <a:rPr lang="en-US" b="true" sz="2700" spc="99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Few dependencies:</a:t>
            </a:r>
          </a:p>
          <a:p>
            <a:pPr algn="l" marL="1165870" indent="-388623" lvl="2">
              <a:lnSpc>
                <a:spcPts val="5589"/>
              </a:lnSpc>
              <a:buFont typeface="Arial"/>
              <a:buChar char="⚬"/>
            </a:pPr>
            <a:r>
              <a:rPr lang="en-US" b="true" sz="2700" spc="99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Maven for building</a:t>
            </a:r>
          </a:p>
          <a:p>
            <a:pPr algn="l" marL="1165870" indent="-388623" lvl="2">
              <a:lnSpc>
                <a:spcPts val="5589"/>
              </a:lnSpc>
              <a:buFont typeface="Arial"/>
              <a:buChar char="⚬"/>
            </a:pPr>
            <a:r>
              <a:rPr lang="en-US" b="true" sz="2700" spc="99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Mockito and jUnit for testing</a:t>
            </a:r>
          </a:p>
        </p:txBody>
      </p:sp>
      <p:sp>
        <p:nvSpPr>
          <p:cNvPr name="Freeform 10" id="10"/>
          <p:cNvSpPr/>
          <p:nvPr/>
        </p:nvSpPr>
        <p:spPr>
          <a:xfrm flipH="true" flipV="true" rot="0">
            <a:off x="16034702" y="7982834"/>
            <a:ext cx="4973892" cy="4946762"/>
          </a:xfrm>
          <a:custGeom>
            <a:avLst/>
            <a:gdLst/>
            <a:ahLst/>
            <a:cxnLst/>
            <a:rect r="r" b="b" t="t" l="l"/>
            <a:pathLst>
              <a:path h="4946762" w="4973892">
                <a:moveTo>
                  <a:pt x="4973892" y="4946762"/>
                </a:moveTo>
                <a:lnTo>
                  <a:pt x="0" y="4946762"/>
                </a:lnTo>
                <a:lnTo>
                  <a:pt x="0" y="0"/>
                </a:lnTo>
                <a:lnTo>
                  <a:pt x="4973892" y="0"/>
                </a:lnTo>
                <a:lnTo>
                  <a:pt x="4973892" y="494676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-5400000">
            <a:off x="-1028700" y="8821170"/>
            <a:ext cx="4114800" cy="3231988"/>
          </a:xfrm>
          <a:custGeom>
            <a:avLst/>
            <a:gdLst/>
            <a:ahLst/>
            <a:cxnLst/>
            <a:rect r="r" b="b" t="t" l="l"/>
            <a:pathLst>
              <a:path h="3231988" w="4114800">
                <a:moveTo>
                  <a:pt x="4114800" y="0"/>
                </a:moveTo>
                <a:lnTo>
                  <a:pt x="0" y="0"/>
                </a:lnTo>
                <a:lnTo>
                  <a:pt x="0" y="3231989"/>
                </a:lnTo>
                <a:lnTo>
                  <a:pt x="4114800" y="3231989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5400000">
            <a:off x="15201900" y="-1758869"/>
            <a:ext cx="4114800" cy="3231988"/>
          </a:xfrm>
          <a:custGeom>
            <a:avLst/>
            <a:gdLst/>
            <a:ahLst/>
            <a:cxnLst/>
            <a:rect r="r" b="b" t="t" l="l"/>
            <a:pathLst>
              <a:path h="3231988" w="4114800">
                <a:moveTo>
                  <a:pt x="4114800" y="0"/>
                </a:moveTo>
                <a:lnTo>
                  <a:pt x="0" y="0"/>
                </a:lnTo>
                <a:lnTo>
                  <a:pt x="0" y="3231988"/>
                </a:lnTo>
                <a:lnTo>
                  <a:pt x="4114800" y="3231988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-2624858" y="-2625781"/>
            <a:ext cx="4973892" cy="4946762"/>
          </a:xfrm>
          <a:custGeom>
            <a:avLst/>
            <a:gdLst/>
            <a:ahLst/>
            <a:cxnLst/>
            <a:rect r="r" b="b" t="t" l="l"/>
            <a:pathLst>
              <a:path h="4946762" w="4973892">
                <a:moveTo>
                  <a:pt x="0" y="0"/>
                </a:moveTo>
                <a:lnTo>
                  <a:pt x="4973893" y="0"/>
                </a:lnTo>
                <a:lnTo>
                  <a:pt x="4973893" y="4946762"/>
                </a:lnTo>
                <a:lnTo>
                  <a:pt x="0" y="49467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4" id="14"/>
          <p:cNvSpPr/>
          <p:nvPr/>
        </p:nvSpPr>
        <p:spPr>
          <a:xfrm>
            <a:off x="1918394" y="2599373"/>
            <a:ext cx="14451211" cy="0"/>
          </a:xfrm>
          <a:prstGeom prst="line">
            <a:avLst/>
          </a:prstGeom>
          <a:ln cap="flat" w="3810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19562" y="-76200"/>
            <a:ext cx="20878800" cy="10439400"/>
            <a:chOff x="0" y="0"/>
            <a:chExt cx="27838400" cy="13919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919200" cy="13919200"/>
            </a:xfrm>
            <a:custGeom>
              <a:avLst/>
              <a:gdLst/>
              <a:ahLst/>
              <a:cxnLst/>
              <a:rect r="r" b="b" t="t" l="l"/>
              <a:pathLst>
                <a:path h="13919200" w="13919200">
                  <a:moveTo>
                    <a:pt x="0" y="0"/>
                  </a:moveTo>
                  <a:lnTo>
                    <a:pt x="13919200" y="0"/>
                  </a:lnTo>
                  <a:lnTo>
                    <a:pt x="13919200" y="13919200"/>
                  </a:lnTo>
                  <a:lnTo>
                    <a:pt x="0" y="139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true" flipV="false" rot="0">
              <a:off x="13919200" y="0"/>
              <a:ext cx="13919200" cy="13919200"/>
            </a:xfrm>
            <a:custGeom>
              <a:avLst/>
              <a:gdLst/>
              <a:ahLst/>
              <a:cxnLst/>
              <a:rect r="r" b="b" t="t" l="l"/>
              <a:pathLst>
                <a:path h="13919200" w="13919200">
                  <a:moveTo>
                    <a:pt x="13919200" y="0"/>
                  </a:moveTo>
                  <a:lnTo>
                    <a:pt x="0" y="0"/>
                  </a:lnTo>
                  <a:lnTo>
                    <a:pt x="0" y="13919200"/>
                  </a:lnTo>
                  <a:lnTo>
                    <a:pt x="13919200" y="13919200"/>
                  </a:lnTo>
                  <a:lnTo>
                    <a:pt x="13919200" y="0"/>
                  </a:lnTo>
                  <a:close/>
                </a:path>
              </a:pathLst>
            </a:custGeom>
            <a:blipFill>
              <a:blip r:embed="rId2">
                <a:alphaModFix amt="8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true" rot="0">
            <a:off x="16034702" y="7982834"/>
            <a:ext cx="4973892" cy="4946762"/>
          </a:xfrm>
          <a:custGeom>
            <a:avLst/>
            <a:gdLst/>
            <a:ahLst/>
            <a:cxnLst/>
            <a:rect r="r" b="b" t="t" l="l"/>
            <a:pathLst>
              <a:path h="4946762" w="4973892">
                <a:moveTo>
                  <a:pt x="4973892" y="4946762"/>
                </a:moveTo>
                <a:lnTo>
                  <a:pt x="0" y="4946762"/>
                </a:lnTo>
                <a:lnTo>
                  <a:pt x="0" y="0"/>
                </a:lnTo>
                <a:lnTo>
                  <a:pt x="4973892" y="0"/>
                </a:lnTo>
                <a:lnTo>
                  <a:pt x="4973892" y="494676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-5400000">
            <a:off x="-1028700" y="8821170"/>
            <a:ext cx="4114800" cy="3231988"/>
          </a:xfrm>
          <a:custGeom>
            <a:avLst/>
            <a:gdLst/>
            <a:ahLst/>
            <a:cxnLst/>
            <a:rect r="r" b="b" t="t" l="l"/>
            <a:pathLst>
              <a:path h="3231988" w="4114800">
                <a:moveTo>
                  <a:pt x="4114800" y="0"/>
                </a:moveTo>
                <a:lnTo>
                  <a:pt x="0" y="0"/>
                </a:lnTo>
                <a:lnTo>
                  <a:pt x="0" y="3231989"/>
                </a:lnTo>
                <a:lnTo>
                  <a:pt x="4114800" y="3231989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5400000">
            <a:off x="15201900" y="-1758869"/>
            <a:ext cx="4114800" cy="3231988"/>
          </a:xfrm>
          <a:custGeom>
            <a:avLst/>
            <a:gdLst/>
            <a:ahLst/>
            <a:cxnLst/>
            <a:rect r="r" b="b" t="t" l="l"/>
            <a:pathLst>
              <a:path h="3231988" w="4114800">
                <a:moveTo>
                  <a:pt x="4114800" y="0"/>
                </a:moveTo>
                <a:lnTo>
                  <a:pt x="0" y="0"/>
                </a:lnTo>
                <a:lnTo>
                  <a:pt x="0" y="3231988"/>
                </a:lnTo>
                <a:lnTo>
                  <a:pt x="4114800" y="3231988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2624858" y="-2625781"/>
            <a:ext cx="4973892" cy="4946762"/>
          </a:xfrm>
          <a:custGeom>
            <a:avLst/>
            <a:gdLst/>
            <a:ahLst/>
            <a:cxnLst/>
            <a:rect r="r" b="b" t="t" l="l"/>
            <a:pathLst>
              <a:path h="4946762" w="4973892">
                <a:moveTo>
                  <a:pt x="0" y="0"/>
                </a:moveTo>
                <a:lnTo>
                  <a:pt x="4973893" y="0"/>
                </a:lnTo>
                <a:lnTo>
                  <a:pt x="4973893" y="4946762"/>
                </a:lnTo>
                <a:lnTo>
                  <a:pt x="0" y="49467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713424" y="3408227"/>
            <a:ext cx="14612829" cy="1735273"/>
          </a:xfrm>
          <a:custGeom>
            <a:avLst/>
            <a:gdLst/>
            <a:ahLst/>
            <a:cxnLst/>
            <a:rect r="r" b="b" t="t" l="l"/>
            <a:pathLst>
              <a:path h="1735273" w="14612829">
                <a:moveTo>
                  <a:pt x="0" y="0"/>
                </a:moveTo>
                <a:lnTo>
                  <a:pt x="14612829" y="0"/>
                </a:lnTo>
                <a:lnTo>
                  <a:pt x="14612829" y="1735273"/>
                </a:lnTo>
                <a:lnTo>
                  <a:pt x="0" y="173527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100295" y="1009650"/>
            <a:ext cx="10239977" cy="1466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400"/>
              </a:lnSpc>
            </a:pPr>
            <a:r>
              <a:rPr lang="en-US" sz="9500">
                <a:solidFill>
                  <a:srgbClr val="000000"/>
                </a:solidFill>
                <a:latin typeface="Squada One"/>
                <a:ea typeface="Squada One"/>
                <a:cs typeface="Squada One"/>
                <a:sym typeface="Squada One"/>
              </a:rPr>
              <a:t>OVERVIEW (SAST)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13424" y="5634445"/>
            <a:ext cx="12800291" cy="203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35" indent="-291467" lvl="1">
              <a:lnSpc>
                <a:spcPts val="558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00" spc="99" strike="noStrike" u="none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No security problem identified </a:t>
            </a:r>
          </a:p>
          <a:p>
            <a:pPr algn="l" marL="582935" indent="-291467" lvl="1">
              <a:lnSpc>
                <a:spcPts val="558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00" spc="99" strike="noStrike" u="none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No dependency issue identified </a:t>
            </a:r>
          </a:p>
          <a:p>
            <a:pPr algn="l" marL="582935" indent="-291467" lvl="1">
              <a:lnSpc>
                <a:spcPts val="558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00" spc="99" strike="noStrike" u="none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 As expected from a small and simple project it is relatively “safe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19562" y="-76200"/>
            <a:ext cx="20878800" cy="10439400"/>
            <a:chOff x="0" y="0"/>
            <a:chExt cx="27838400" cy="13919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919200" cy="13919200"/>
            </a:xfrm>
            <a:custGeom>
              <a:avLst/>
              <a:gdLst/>
              <a:ahLst/>
              <a:cxnLst/>
              <a:rect r="r" b="b" t="t" l="l"/>
              <a:pathLst>
                <a:path h="13919200" w="13919200">
                  <a:moveTo>
                    <a:pt x="0" y="0"/>
                  </a:moveTo>
                  <a:lnTo>
                    <a:pt x="13919200" y="0"/>
                  </a:lnTo>
                  <a:lnTo>
                    <a:pt x="13919200" y="13919200"/>
                  </a:lnTo>
                  <a:lnTo>
                    <a:pt x="0" y="139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true" flipV="false" rot="0">
              <a:off x="13919200" y="0"/>
              <a:ext cx="13919200" cy="13919200"/>
            </a:xfrm>
            <a:custGeom>
              <a:avLst/>
              <a:gdLst/>
              <a:ahLst/>
              <a:cxnLst/>
              <a:rect r="r" b="b" t="t" l="l"/>
              <a:pathLst>
                <a:path h="13919200" w="13919200">
                  <a:moveTo>
                    <a:pt x="13919200" y="0"/>
                  </a:moveTo>
                  <a:lnTo>
                    <a:pt x="0" y="0"/>
                  </a:lnTo>
                  <a:lnTo>
                    <a:pt x="0" y="13919200"/>
                  </a:lnTo>
                  <a:lnTo>
                    <a:pt x="13919200" y="13919200"/>
                  </a:lnTo>
                  <a:lnTo>
                    <a:pt x="13919200" y="0"/>
                  </a:lnTo>
                  <a:close/>
                </a:path>
              </a:pathLst>
            </a:custGeom>
            <a:blipFill>
              <a:blip r:embed="rId2">
                <a:alphaModFix amt="8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true" rot="0">
            <a:off x="16034702" y="7982834"/>
            <a:ext cx="4973892" cy="4946762"/>
          </a:xfrm>
          <a:custGeom>
            <a:avLst/>
            <a:gdLst/>
            <a:ahLst/>
            <a:cxnLst/>
            <a:rect r="r" b="b" t="t" l="l"/>
            <a:pathLst>
              <a:path h="4946762" w="4973892">
                <a:moveTo>
                  <a:pt x="4973892" y="4946762"/>
                </a:moveTo>
                <a:lnTo>
                  <a:pt x="0" y="4946762"/>
                </a:lnTo>
                <a:lnTo>
                  <a:pt x="0" y="0"/>
                </a:lnTo>
                <a:lnTo>
                  <a:pt x="4973892" y="0"/>
                </a:lnTo>
                <a:lnTo>
                  <a:pt x="4973892" y="494676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-5400000">
            <a:off x="-1028700" y="8821170"/>
            <a:ext cx="4114800" cy="3231988"/>
          </a:xfrm>
          <a:custGeom>
            <a:avLst/>
            <a:gdLst/>
            <a:ahLst/>
            <a:cxnLst/>
            <a:rect r="r" b="b" t="t" l="l"/>
            <a:pathLst>
              <a:path h="3231988" w="4114800">
                <a:moveTo>
                  <a:pt x="4114800" y="0"/>
                </a:moveTo>
                <a:lnTo>
                  <a:pt x="0" y="0"/>
                </a:lnTo>
                <a:lnTo>
                  <a:pt x="0" y="3231989"/>
                </a:lnTo>
                <a:lnTo>
                  <a:pt x="4114800" y="3231989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5400000">
            <a:off x="15201900" y="-1758869"/>
            <a:ext cx="4114800" cy="3231988"/>
          </a:xfrm>
          <a:custGeom>
            <a:avLst/>
            <a:gdLst/>
            <a:ahLst/>
            <a:cxnLst/>
            <a:rect r="r" b="b" t="t" l="l"/>
            <a:pathLst>
              <a:path h="3231988" w="4114800">
                <a:moveTo>
                  <a:pt x="4114800" y="0"/>
                </a:moveTo>
                <a:lnTo>
                  <a:pt x="0" y="0"/>
                </a:lnTo>
                <a:lnTo>
                  <a:pt x="0" y="3231988"/>
                </a:lnTo>
                <a:lnTo>
                  <a:pt x="4114800" y="3231988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2624858" y="-2625781"/>
            <a:ext cx="4973892" cy="4946762"/>
          </a:xfrm>
          <a:custGeom>
            <a:avLst/>
            <a:gdLst/>
            <a:ahLst/>
            <a:cxnLst/>
            <a:rect r="r" b="b" t="t" l="l"/>
            <a:pathLst>
              <a:path h="4946762" w="4973892">
                <a:moveTo>
                  <a:pt x="0" y="0"/>
                </a:moveTo>
                <a:lnTo>
                  <a:pt x="4973893" y="0"/>
                </a:lnTo>
                <a:lnTo>
                  <a:pt x="4973893" y="4946762"/>
                </a:lnTo>
                <a:lnTo>
                  <a:pt x="0" y="49467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91299" y="2623757"/>
            <a:ext cx="15694754" cy="5473546"/>
          </a:xfrm>
          <a:custGeom>
            <a:avLst/>
            <a:gdLst/>
            <a:ahLst/>
            <a:cxnLst/>
            <a:rect r="r" b="b" t="t" l="l"/>
            <a:pathLst>
              <a:path h="5473546" w="15694754">
                <a:moveTo>
                  <a:pt x="0" y="0"/>
                </a:moveTo>
                <a:lnTo>
                  <a:pt x="15694755" y="0"/>
                </a:lnTo>
                <a:lnTo>
                  <a:pt x="15694755" y="5473546"/>
                </a:lnTo>
                <a:lnTo>
                  <a:pt x="0" y="547354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100295" y="1009650"/>
            <a:ext cx="10239977" cy="1466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400"/>
              </a:lnSpc>
            </a:pPr>
            <a:r>
              <a:rPr lang="en-US" sz="9500">
                <a:solidFill>
                  <a:srgbClr val="000000"/>
                </a:solidFill>
                <a:latin typeface="Squada One"/>
                <a:ea typeface="Squada One"/>
                <a:cs typeface="Squada One"/>
                <a:sym typeface="Squada One"/>
              </a:rPr>
              <a:t>OVERVIEW (SCA)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19562" y="-76200"/>
            <a:ext cx="20878800" cy="10439400"/>
            <a:chOff x="0" y="0"/>
            <a:chExt cx="27838400" cy="13919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919200" cy="13919200"/>
            </a:xfrm>
            <a:custGeom>
              <a:avLst/>
              <a:gdLst/>
              <a:ahLst/>
              <a:cxnLst/>
              <a:rect r="r" b="b" t="t" l="l"/>
              <a:pathLst>
                <a:path h="13919200" w="13919200">
                  <a:moveTo>
                    <a:pt x="0" y="0"/>
                  </a:moveTo>
                  <a:lnTo>
                    <a:pt x="13919200" y="0"/>
                  </a:lnTo>
                  <a:lnTo>
                    <a:pt x="13919200" y="13919200"/>
                  </a:lnTo>
                  <a:lnTo>
                    <a:pt x="0" y="139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true" flipV="false" rot="0">
              <a:off x="13919200" y="0"/>
              <a:ext cx="13919200" cy="13919200"/>
            </a:xfrm>
            <a:custGeom>
              <a:avLst/>
              <a:gdLst/>
              <a:ahLst/>
              <a:cxnLst/>
              <a:rect r="r" b="b" t="t" l="l"/>
              <a:pathLst>
                <a:path h="13919200" w="13919200">
                  <a:moveTo>
                    <a:pt x="13919200" y="0"/>
                  </a:moveTo>
                  <a:lnTo>
                    <a:pt x="0" y="0"/>
                  </a:lnTo>
                  <a:lnTo>
                    <a:pt x="0" y="13919200"/>
                  </a:lnTo>
                  <a:lnTo>
                    <a:pt x="13919200" y="13919200"/>
                  </a:lnTo>
                  <a:lnTo>
                    <a:pt x="13919200" y="0"/>
                  </a:lnTo>
                  <a:close/>
                </a:path>
              </a:pathLst>
            </a:custGeom>
            <a:blipFill>
              <a:blip r:embed="rId2">
                <a:alphaModFix amt="8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3130428" y="3643862"/>
            <a:ext cx="12027143" cy="2694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975"/>
              </a:lnSpc>
            </a:pPr>
            <a:r>
              <a:rPr lang="en-US" sz="15697">
                <a:solidFill>
                  <a:srgbClr val="000000"/>
                </a:solidFill>
                <a:latin typeface="Squada One"/>
                <a:ea typeface="Squada One"/>
                <a:cs typeface="Squada One"/>
                <a:sym typeface="Squada One"/>
              </a:rPr>
              <a:t>T</a:t>
            </a:r>
            <a:r>
              <a:rPr lang="en-US" sz="15697">
                <a:solidFill>
                  <a:srgbClr val="000000"/>
                </a:solidFill>
                <a:latin typeface="Squada One"/>
                <a:ea typeface="Squada One"/>
                <a:cs typeface="Squada One"/>
                <a:sym typeface="Squada One"/>
              </a:rPr>
              <a:t>hank You</a:t>
            </a:r>
          </a:p>
        </p:txBody>
      </p:sp>
      <p:sp>
        <p:nvSpPr>
          <p:cNvPr name="Freeform 9" id="9"/>
          <p:cNvSpPr/>
          <p:nvPr/>
        </p:nvSpPr>
        <p:spPr>
          <a:xfrm flipH="true" flipV="true" rot="0">
            <a:off x="16034702" y="7982834"/>
            <a:ext cx="4973892" cy="4946762"/>
          </a:xfrm>
          <a:custGeom>
            <a:avLst/>
            <a:gdLst/>
            <a:ahLst/>
            <a:cxnLst/>
            <a:rect r="r" b="b" t="t" l="l"/>
            <a:pathLst>
              <a:path h="4946762" w="4973892">
                <a:moveTo>
                  <a:pt x="4973892" y="4946762"/>
                </a:moveTo>
                <a:lnTo>
                  <a:pt x="0" y="4946762"/>
                </a:lnTo>
                <a:lnTo>
                  <a:pt x="0" y="0"/>
                </a:lnTo>
                <a:lnTo>
                  <a:pt x="4973892" y="0"/>
                </a:lnTo>
                <a:lnTo>
                  <a:pt x="4973892" y="494676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-5400000">
            <a:off x="-1028700" y="6613606"/>
            <a:ext cx="4114800" cy="3231988"/>
          </a:xfrm>
          <a:custGeom>
            <a:avLst/>
            <a:gdLst/>
            <a:ahLst/>
            <a:cxnLst/>
            <a:rect r="r" b="b" t="t" l="l"/>
            <a:pathLst>
              <a:path h="3231988" w="4114800">
                <a:moveTo>
                  <a:pt x="4114800" y="0"/>
                </a:moveTo>
                <a:lnTo>
                  <a:pt x="0" y="0"/>
                </a:lnTo>
                <a:lnTo>
                  <a:pt x="0" y="3231988"/>
                </a:lnTo>
                <a:lnTo>
                  <a:pt x="4114800" y="3231988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5400000">
            <a:off x="15201900" y="441406"/>
            <a:ext cx="4114800" cy="3231988"/>
          </a:xfrm>
          <a:custGeom>
            <a:avLst/>
            <a:gdLst/>
            <a:ahLst/>
            <a:cxnLst/>
            <a:rect r="r" b="b" t="t" l="l"/>
            <a:pathLst>
              <a:path h="3231988" w="4114800">
                <a:moveTo>
                  <a:pt x="4114800" y="0"/>
                </a:moveTo>
                <a:lnTo>
                  <a:pt x="0" y="0"/>
                </a:lnTo>
                <a:lnTo>
                  <a:pt x="0" y="3231988"/>
                </a:lnTo>
                <a:lnTo>
                  <a:pt x="4114800" y="3231988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2624858" y="-2625781"/>
            <a:ext cx="4973892" cy="4946762"/>
          </a:xfrm>
          <a:custGeom>
            <a:avLst/>
            <a:gdLst/>
            <a:ahLst/>
            <a:cxnLst/>
            <a:rect r="r" b="b" t="t" l="l"/>
            <a:pathLst>
              <a:path h="4946762" w="4973892">
                <a:moveTo>
                  <a:pt x="0" y="0"/>
                </a:moveTo>
                <a:lnTo>
                  <a:pt x="4973893" y="0"/>
                </a:lnTo>
                <a:lnTo>
                  <a:pt x="4973893" y="4946762"/>
                </a:lnTo>
                <a:lnTo>
                  <a:pt x="0" y="49467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DAHAGHulnDE</dc:identifier>
  <dcterms:modified xsi:type="dcterms:W3CDTF">2011-08-01T06:04:30Z</dcterms:modified>
  <cp:revision>1</cp:revision>
  <dc:title>SAST LAB ACTIVITY</dc:title>
</cp:coreProperties>
</file>